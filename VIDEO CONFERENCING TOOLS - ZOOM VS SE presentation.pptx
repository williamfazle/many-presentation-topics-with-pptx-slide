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8" r:id="rId5"/>
    <p:sldId id="265" r:id="rId6"/>
    <p:sldId id="267" r:id="rId7"/>
    <p:sldId id="286" r:id="rId8"/>
    <p:sldId id="263" r:id="rId9"/>
    <p:sldId id="280" r:id="rId10"/>
    <p:sldId id="266" r:id="rId11"/>
    <p:sldId id="278" r:id="rId12"/>
    <p:sldId id="279" r:id="rId13"/>
    <p:sldId id="271" r:id="rId14"/>
    <p:sldId id="261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6D24C-0768-4662-9905-4CA84BC931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02F99-A667-4CF0-976E-EA4CC316D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c1997cbf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c1997cbf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8c1997cbf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8c1997cbf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8c1997cbf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8c1997cbf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8c1997cbf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8c1997cbf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8c1997cbfd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8c1997cbfd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93be0b74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93be0b74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8c1997cbfd_0_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8c1997cbfd_0_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8b8ed53e2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8b8ed53e2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8c1997cbfd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8c1997cbfd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8c2221473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8c2221473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8b8ed53e2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8b8ed53e2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8c1997cb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8c1997cb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60000" y="1355175"/>
            <a:ext cx="5439600" cy="32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60000" y="4516825"/>
            <a:ext cx="3134000" cy="9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960000" y="1473133"/>
            <a:ext cx="10520800" cy="41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1" y="6092062"/>
            <a:ext cx="1363345" cy="763663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10828668" y="-5"/>
            <a:ext cx="1363345" cy="763663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3905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882747" y="3048979"/>
            <a:ext cx="2860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882753" y="3761779"/>
            <a:ext cx="2860400" cy="13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2448853" y="3761779"/>
            <a:ext cx="2860400" cy="13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2448847" y="3048979"/>
            <a:ext cx="2860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4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1" y="6092062"/>
            <a:ext cx="1363345" cy="763663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10828668" y="6092062"/>
            <a:ext cx="1363345" cy="763663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5685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1" y="6092062"/>
            <a:ext cx="1363345" cy="763663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10828668" y="-5"/>
            <a:ext cx="1363345" cy="763663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75699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6586267" y="1717681"/>
            <a:ext cx="2540400" cy="12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6586267" y="2910051"/>
            <a:ext cx="2540400" cy="2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809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403733" y="2252600"/>
            <a:ext cx="3489600" cy="133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2184400" y="3544867"/>
            <a:ext cx="2708800" cy="8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5335300" y="1920000"/>
            <a:ext cx="5896800" cy="30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9"/>
          <p:cNvGrpSpPr/>
          <p:nvPr/>
        </p:nvGrpSpPr>
        <p:grpSpPr>
          <a:xfrm>
            <a:off x="960000" y="1351500"/>
            <a:ext cx="127200" cy="415500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6335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00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984347" y="2489000"/>
            <a:ext cx="2860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body" idx="1"/>
          </p:nvPr>
        </p:nvSpPr>
        <p:spPr>
          <a:xfrm>
            <a:off x="6984353" y="3201800"/>
            <a:ext cx="2860400" cy="13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body" idx="2"/>
          </p:nvPr>
        </p:nvSpPr>
        <p:spPr>
          <a:xfrm>
            <a:off x="2347253" y="3201800"/>
            <a:ext cx="2860400" cy="13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3"/>
          </p:nvPr>
        </p:nvSpPr>
        <p:spPr>
          <a:xfrm>
            <a:off x="2347247" y="2489000"/>
            <a:ext cx="2860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4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 rot="-5400000">
            <a:off x="11128501" y="5794495"/>
            <a:ext cx="1363345" cy="763663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99833" y="299829"/>
            <a:ext cx="1363345" cy="763663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09185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1"/>
          </p:nvPr>
        </p:nvSpPr>
        <p:spPr>
          <a:xfrm>
            <a:off x="959600" y="3246567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2"/>
          </p:nvPr>
        </p:nvSpPr>
        <p:spPr>
          <a:xfrm>
            <a:off x="959800" y="3646436"/>
            <a:ext cx="30892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4551492" y="3246567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4"/>
          </p:nvPr>
        </p:nvSpPr>
        <p:spPr>
          <a:xfrm>
            <a:off x="4551492" y="3646436"/>
            <a:ext cx="30892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5"/>
          </p:nvPr>
        </p:nvSpPr>
        <p:spPr>
          <a:xfrm>
            <a:off x="8142767" y="3246567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8142767" y="3646436"/>
            <a:ext cx="30892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 rot="5400000" flipH="1">
            <a:off x="-299833" y="5794495"/>
            <a:ext cx="1363345" cy="763663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rot="-5400000" flipH="1">
            <a:off x="11128501" y="299829"/>
            <a:ext cx="1363345" cy="763663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4483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"/>
          </p:nvPr>
        </p:nvSpPr>
        <p:spPr>
          <a:xfrm>
            <a:off x="2456333" y="2158391"/>
            <a:ext cx="22436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2"/>
          </p:nvPr>
        </p:nvSpPr>
        <p:spPr>
          <a:xfrm>
            <a:off x="1890067" y="2558267"/>
            <a:ext cx="2810000" cy="1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2671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3"/>
          </p:nvPr>
        </p:nvSpPr>
        <p:spPr>
          <a:xfrm>
            <a:off x="2456792" y="3923239"/>
            <a:ext cx="22432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4"/>
          </p:nvPr>
        </p:nvSpPr>
        <p:spPr>
          <a:xfrm>
            <a:off x="1890099" y="4323100"/>
            <a:ext cx="2810000" cy="1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4415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5"/>
          </p:nvPr>
        </p:nvSpPr>
        <p:spPr>
          <a:xfrm>
            <a:off x="7491884" y="3923239"/>
            <a:ext cx="22432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6"/>
          </p:nvPr>
        </p:nvSpPr>
        <p:spPr>
          <a:xfrm>
            <a:off x="7491967" y="4323100"/>
            <a:ext cx="2810000" cy="1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7"/>
          </p:nvPr>
        </p:nvSpPr>
        <p:spPr>
          <a:xfrm>
            <a:off x="7491943" y="2158391"/>
            <a:ext cx="22432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8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8"/>
          </p:nvPr>
        </p:nvSpPr>
        <p:spPr>
          <a:xfrm>
            <a:off x="7492035" y="2558267"/>
            <a:ext cx="2810000" cy="1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2671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 rot="-5400000" flipH="1">
            <a:off x="11128501" y="299829"/>
            <a:ext cx="1363345" cy="763663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rot="5400000" flipH="1">
            <a:off x="-299833" y="5794495"/>
            <a:ext cx="1363345" cy="763663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6663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959467" y="2360833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772267" y="1757767"/>
            <a:ext cx="14640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960133" y="2862288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4551333" y="2360833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5364033" y="1757767"/>
            <a:ext cx="14640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4551651" y="2862288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8142733" y="2360833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8955400" y="1757767"/>
            <a:ext cx="14640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8142801" y="2862288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959467" y="4527303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772267" y="3924248"/>
            <a:ext cx="14640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960133" y="5028769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4551200" y="4527303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5364033" y="3924248"/>
            <a:ext cx="14640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4551651" y="5028769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8142733" y="4527300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8955400" y="3924248"/>
            <a:ext cx="14640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8142801" y="5028769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1" y="6092062"/>
            <a:ext cx="1363345" cy="763663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10828668" y="6092062"/>
            <a:ext cx="1363345" cy="763663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930141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subTitle" idx="1"/>
          </p:nvPr>
        </p:nvSpPr>
        <p:spPr>
          <a:xfrm>
            <a:off x="1881284" y="1999481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2"/>
          </p:nvPr>
        </p:nvSpPr>
        <p:spPr>
          <a:xfrm>
            <a:off x="1881951" y="2399336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3"/>
          </p:nvPr>
        </p:nvSpPr>
        <p:spPr>
          <a:xfrm>
            <a:off x="1881317" y="3368465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4"/>
          </p:nvPr>
        </p:nvSpPr>
        <p:spPr>
          <a:xfrm>
            <a:off x="1881633" y="3768320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1"/>
          <p:cNvSpPr txBox="1">
            <a:spLocks noGrp="1"/>
          </p:cNvSpPr>
          <p:nvPr>
            <p:ph type="subTitle" idx="5"/>
          </p:nvPr>
        </p:nvSpPr>
        <p:spPr>
          <a:xfrm>
            <a:off x="7221284" y="1999481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6"/>
          </p:nvPr>
        </p:nvSpPr>
        <p:spPr>
          <a:xfrm>
            <a:off x="7221351" y="2399336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4279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7"/>
          </p:nvPr>
        </p:nvSpPr>
        <p:spPr>
          <a:xfrm>
            <a:off x="1881284" y="4737452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8"/>
          </p:nvPr>
        </p:nvSpPr>
        <p:spPr>
          <a:xfrm>
            <a:off x="1881951" y="5137319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9"/>
          </p:nvPr>
        </p:nvSpPr>
        <p:spPr>
          <a:xfrm>
            <a:off x="7221051" y="3368468"/>
            <a:ext cx="30896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3"/>
          </p:nvPr>
        </p:nvSpPr>
        <p:spPr>
          <a:xfrm>
            <a:off x="7221500" y="3768335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14"/>
          </p:nvPr>
        </p:nvSpPr>
        <p:spPr>
          <a:xfrm>
            <a:off x="7221284" y="4737449"/>
            <a:ext cx="30892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5"/>
          </p:nvPr>
        </p:nvSpPr>
        <p:spPr>
          <a:xfrm>
            <a:off x="7221351" y="5137319"/>
            <a:ext cx="3089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21"/>
          <p:cNvGrpSpPr/>
          <p:nvPr/>
        </p:nvGrpSpPr>
        <p:grpSpPr>
          <a:xfrm>
            <a:off x="1" y="6092062"/>
            <a:ext cx="1363345" cy="763663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10828668" y="-5"/>
            <a:ext cx="1363345" cy="763663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0886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11" y="2225411"/>
            <a:ext cx="3708511" cy="2407176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9411453" y="1429167"/>
            <a:ext cx="2780537" cy="3999652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28" name="Google Shape;428;p22"/>
          <p:cNvSpPr txBox="1">
            <a:spLocks noGrp="1"/>
          </p:cNvSpPr>
          <p:nvPr>
            <p:ph type="ctrTitle"/>
          </p:nvPr>
        </p:nvSpPr>
        <p:spPr>
          <a:xfrm>
            <a:off x="2517000" y="815633"/>
            <a:ext cx="7158000" cy="13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429" name="Google Shape;429;p22"/>
          <p:cNvSpPr txBox="1">
            <a:spLocks noGrp="1"/>
          </p:cNvSpPr>
          <p:nvPr>
            <p:ph type="subTitle" idx="1"/>
          </p:nvPr>
        </p:nvSpPr>
        <p:spPr>
          <a:xfrm>
            <a:off x="4059567" y="3073400"/>
            <a:ext cx="4073200" cy="1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2971400" y="5535200"/>
            <a:ext cx="6249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CREDITS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This presentation template was created by</a:t>
            </a:r>
            <a:r>
              <a:rPr lang="en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6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6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12895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1" y="6092062"/>
            <a:ext cx="1363345" cy="763663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10828668" y="-5"/>
            <a:ext cx="1363345" cy="763663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10828668" y="6093195"/>
            <a:ext cx="1363345" cy="763663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1" y="1129"/>
            <a:ext cx="1363345" cy="763663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76982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710703" y="4337255"/>
            <a:ext cx="3231443" cy="1810055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9671264" y="710689"/>
            <a:ext cx="3231443" cy="1810055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6974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91393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notta.ai/en/blog" TargetMode="External"/><Relationship Id="rId7" Type="http://schemas.openxmlformats.org/officeDocument/2006/relationships/hyperlink" Target="https://www.distilnfo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timedoctor.com/blog" TargetMode="External"/><Relationship Id="rId5" Type="http://schemas.openxmlformats.org/officeDocument/2006/relationships/hyperlink" Target="https://jatheon.com/blog" TargetMode="External"/><Relationship Id="rId4" Type="http://schemas.openxmlformats.org/officeDocument/2006/relationships/hyperlink" Target="https://zapier.com/blo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638788" y="11235"/>
            <a:ext cx="6044547" cy="2664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US" sz="4800" dirty="0"/>
              <a:t>VIDEO CONFERENCING TOOLS - ZOOM VS. MICROSOFT TEAMS</a:t>
            </a:r>
            <a:endParaRPr sz="4800" dirty="0"/>
          </a:p>
        </p:txBody>
      </p:sp>
      <p:sp>
        <p:nvSpPr>
          <p:cNvPr id="479" name="Google Shape;479;p27"/>
          <p:cNvSpPr/>
          <p:nvPr/>
        </p:nvSpPr>
        <p:spPr>
          <a:xfrm>
            <a:off x="7769855" y="3637113"/>
            <a:ext cx="3446077" cy="2158640"/>
          </a:xfrm>
          <a:custGeom>
            <a:avLst/>
            <a:gdLst/>
            <a:ahLst/>
            <a:cxnLst/>
            <a:rect l="l" t="t" r="r" b="b"/>
            <a:pathLst>
              <a:path w="98572" h="61746" extrusionOk="0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8048590" y="3869178"/>
            <a:ext cx="2888605" cy="1251359"/>
          </a:xfrm>
          <a:custGeom>
            <a:avLst/>
            <a:gdLst/>
            <a:ahLst/>
            <a:cxnLst/>
            <a:rect l="l" t="t" r="r" b="b"/>
            <a:pathLst>
              <a:path w="82626" h="35794" extrusionOk="0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9072461" y="4687834"/>
            <a:ext cx="167983" cy="17549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9072461" y="4272684"/>
            <a:ext cx="167983" cy="17515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9072461" y="4081419"/>
            <a:ext cx="167983" cy="17549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9072461" y="4480277"/>
            <a:ext cx="167983" cy="16361"/>
          </a:xfrm>
          <a:custGeom>
            <a:avLst/>
            <a:gdLst/>
            <a:ahLst/>
            <a:cxnLst/>
            <a:rect l="l" t="t" r="r" b="b"/>
            <a:pathLst>
              <a:path w="4805" h="468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8384450" y="4480276"/>
            <a:ext cx="169101" cy="17515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9072461" y="3956647"/>
            <a:ext cx="167983" cy="17549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8384450" y="4081419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8154693" y="4272684"/>
            <a:ext cx="398859" cy="17515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8384450" y="4895424"/>
            <a:ext cx="169101" cy="17515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8384450" y="4687834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8384450" y="3956647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9529595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9529595" y="4081419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9529595" y="427268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9301028" y="4081419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9301028" y="427268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9301028" y="4480277"/>
            <a:ext cx="169136" cy="1636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9529595" y="4480277"/>
            <a:ext cx="169136" cy="1636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9301028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9301028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9529595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9072461" y="4895424"/>
            <a:ext cx="1085753" cy="17515"/>
          </a:xfrm>
          <a:custGeom>
            <a:avLst/>
            <a:gdLst/>
            <a:ahLst/>
            <a:cxnLst/>
            <a:rect l="l" t="t" r="r" b="b"/>
            <a:pathLst>
              <a:path w="31057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8842739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8613018" y="3956647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8842739" y="489542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8613018" y="4895424"/>
            <a:ext cx="169101" cy="17515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8613018" y="4081419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8613018" y="4687834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8613018" y="4272684"/>
            <a:ext cx="169101" cy="17515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8613018" y="4480276"/>
            <a:ext cx="169101" cy="17515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8842739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8842739" y="427268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8842739" y="4081419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8842739" y="4480276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9056134" y="5189297"/>
            <a:ext cx="866519" cy="507304"/>
          </a:xfrm>
          <a:custGeom>
            <a:avLst/>
            <a:gdLst/>
            <a:ahLst/>
            <a:cxnLst/>
            <a:rect l="l" t="t" r="r" b="b"/>
            <a:pathLst>
              <a:path w="24786" h="14511" extrusionOk="0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8154694" y="3956648"/>
            <a:ext cx="2690381" cy="1096241"/>
          </a:xfrm>
          <a:custGeom>
            <a:avLst/>
            <a:gdLst/>
            <a:ahLst/>
            <a:cxnLst/>
            <a:rect l="l" t="t" r="r" b="b"/>
            <a:pathLst>
              <a:path w="76956" h="31357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8154693" y="4081419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8154693" y="489542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8154693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8154693" y="4480276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9759352" y="4687834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9759352" y="4272684"/>
            <a:ext cx="169101" cy="17515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9759352" y="4480277"/>
            <a:ext cx="169101" cy="16361"/>
          </a:xfrm>
          <a:custGeom>
            <a:avLst/>
            <a:gdLst/>
            <a:ahLst/>
            <a:cxnLst/>
            <a:rect l="l" t="t" r="r" b="b"/>
            <a:pathLst>
              <a:path w="4837" h="468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10447363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9759352" y="4081419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9759352" y="3956647"/>
            <a:ext cx="169101" cy="17549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10447363" y="489542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10217641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10217641" y="427268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10217641" y="4081419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10217641" y="4480276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10217641" y="489542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10217641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10675929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10447363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9989073" y="3956647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10447364" y="4272684"/>
            <a:ext cx="397705" cy="17515"/>
          </a:xfrm>
          <a:custGeom>
            <a:avLst/>
            <a:gdLst/>
            <a:ahLst/>
            <a:cxnLst/>
            <a:rect l="l" t="t" r="r" b="b"/>
            <a:pathLst>
              <a:path w="11376" h="501" extrusionOk="0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10447364" y="4081419"/>
            <a:ext cx="397705" cy="17549"/>
          </a:xfrm>
          <a:custGeom>
            <a:avLst/>
            <a:gdLst/>
            <a:ahLst/>
            <a:cxnLst/>
            <a:rect l="l" t="t" r="r" b="b"/>
            <a:pathLst>
              <a:path w="11376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10675929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10447363" y="4480276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10675929" y="489542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9989073" y="4480276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9989073" y="4687834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9989073" y="4081419"/>
            <a:ext cx="169136" cy="17549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9989073" y="4272684"/>
            <a:ext cx="169136" cy="17515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10883521" y="3696615"/>
            <a:ext cx="149315" cy="152775"/>
          </a:xfrm>
          <a:custGeom>
            <a:avLst/>
            <a:gdLst/>
            <a:ahLst/>
            <a:cxnLst/>
            <a:rect l="l" t="t" r="r" b="b"/>
            <a:pathLst>
              <a:path w="4271" h="4370" extrusionOk="0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10883521" y="3696615"/>
            <a:ext cx="149315" cy="149279"/>
          </a:xfrm>
          <a:custGeom>
            <a:avLst/>
            <a:gdLst/>
            <a:ahLst/>
            <a:cxnLst/>
            <a:rect l="l" t="t" r="r" b="b"/>
            <a:pathLst>
              <a:path w="4271" h="4270" extrusionOk="0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10897506" y="3709445"/>
            <a:ext cx="122500" cy="123619"/>
          </a:xfrm>
          <a:custGeom>
            <a:avLst/>
            <a:gdLst/>
            <a:ahLst/>
            <a:cxnLst/>
            <a:rect l="l" t="t" r="r" b="b"/>
            <a:pathLst>
              <a:path w="3504" h="3536" extrusionOk="0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10897506" y="3770066"/>
            <a:ext cx="122500" cy="62997"/>
          </a:xfrm>
          <a:custGeom>
            <a:avLst/>
            <a:gdLst/>
            <a:ahLst/>
            <a:cxnLst/>
            <a:rect l="l" t="t" r="r" b="b"/>
            <a:pathLst>
              <a:path w="3504" h="1802" extrusionOk="0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7528196" y="3602229"/>
            <a:ext cx="91888" cy="42100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7685607" y="3602229"/>
            <a:ext cx="91848" cy="42100"/>
          </a:xfrm>
          <a:custGeom>
            <a:avLst/>
            <a:gdLst/>
            <a:ahLst/>
            <a:cxnLst/>
            <a:rect l="l" t="t" r="r" b="b"/>
            <a:pathLst>
              <a:path w="2258" h="1035" extrusionOk="0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2" name="Google Shape;552;p27"/>
          <p:cNvSpPr/>
          <p:nvPr/>
        </p:nvSpPr>
        <p:spPr>
          <a:xfrm>
            <a:off x="7842976" y="3602229"/>
            <a:ext cx="91888" cy="42100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9544768" y="3103031"/>
            <a:ext cx="35" cy="69989"/>
          </a:xfrm>
          <a:custGeom>
            <a:avLst/>
            <a:gdLst/>
            <a:ahLst/>
            <a:cxnLst/>
            <a:rect l="l" t="t" r="r" b="b"/>
            <a:pathLst>
              <a:path w="1" h="2002" extrusionOk="0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10410061" y="3112727"/>
            <a:ext cx="143476" cy="43211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10580315" y="3112727"/>
            <a:ext cx="143476" cy="43211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10195477" y="3364613"/>
            <a:ext cx="929481" cy="43211"/>
          </a:xfrm>
          <a:custGeom>
            <a:avLst/>
            <a:gdLst/>
            <a:ahLst/>
            <a:cxnLst/>
            <a:rect l="l" t="t" r="r" b="b"/>
            <a:pathLst>
              <a:path w="26587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10894010" y="3453273"/>
            <a:ext cx="181967" cy="44329"/>
          </a:xfrm>
          <a:custGeom>
            <a:avLst/>
            <a:gdLst/>
            <a:ahLst/>
            <a:cxnLst/>
            <a:rect l="l" t="t" r="r" b="b"/>
            <a:pathLst>
              <a:path w="5205" h="1268" extrusionOk="0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10702779" y="3453273"/>
            <a:ext cx="164452" cy="44329"/>
          </a:xfrm>
          <a:custGeom>
            <a:avLst/>
            <a:gdLst/>
            <a:ahLst/>
            <a:cxnLst/>
            <a:rect l="l" t="t" r="r" b="b"/>
            <a:pathLst>
              <a:path w="4704" h="1268" extrusionOk="0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10555843" y="2830531"/>
            <a:ext cx="866484" cy="727728"/>
          </a:xfrm>
          <a:custGeom>
            <a:avLst/>
            <a:gdLst/>
            <a:ahLst/>
            <a:cxnLst/>
            <a:rect l="l" t="t" r="r" b="b"/>
            <a:pathLst>
              <a:path w="24785" h="20816" extrusionOk="0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6656700" y="1396084"/>
            <a:ext cx="3499373" cy="2271425"/>
          </a:xfrm>
          <a:custGeom>
            <a:avLst/>
            <a:gdLst/>
            <a:ahLst/>
            <a:cxnLst/>
            <a:rect l="l" t="t" r="r" b="b"/>
            <a:pathLst>
              <a:path w="86029" h="55841" extrusionOk="0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1" name="Google Shape;561;p27"/>
          <p:cNvSpPr/>
          <p:nvPr/>
        </p:nvSpPr>
        <p:spPr>
          <a:xfrm>
            <a:off x="6656700" y="1396083"/>
            <a:ext cx="3499373" cy="366416"/>
          </a:xfrm>
          <a:custGeom>
            <a:avLst/>
            <a:gdLst/>
            <a:ahLst/>
            <a:cxnLst/>
            <a:rect l="l" t="t" r="r" b="b"/>
            <a:pathLst>
              <a:path w="86029" h="9008" extrusionOk="0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6891433" y="1970040"/>
            <a:ext cx="76025" cy="154693"/>
          </a:xfrm>
          <a:custGeom>
            <a:avLst/>
            <a:gdLst/>
            <a:ahLst/>
            <a:cxnLst/>
            <a:rect l="l" t="t" r="r" b="b"/>
            <a:pathLst>
              <a:path w="1869" h="3803" fill="none" extrusionOk="0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7161429" y="1970040"/>
            <a:ext cx="77408" cy="154693"/>
          </a:xfrm>
          <a:custGeom>
            <a:avLst/>
            <a:gdLst/>
            <a:ahLst/>
            <a:cxnLst/>
            <a:rect l="l" t="t" r="r" b="b"/>
            <a:pathLst>
              <a:path w="1903" h="3803" fill="none" extrusionOk="0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5" name="Google Shape;565;p27"/>
          <p:cNvSpPr/>
          <p:nvPr/>
        </p:nvSpPr>
        <p:spPr>
          <a:xfrm>
            <a:off x="7032532" y="1970040"/>
            <a:ext cx="61096" cy="168280"/>
          </a:xfrm>
          <a:custGeom>
            <a:avLst/>
            <a:gdLst/>
            <a:ahLst/>
            <a:cxnLst/>
            <a:rect l="l" t="t" r="r" b="b"/>
            <a:pathLst>
              <a:path w="1502" h="4137" fill="none" extrusionOk="0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7298463" y="2117893"/>
            <a:ext cx="43484" cy="43484"/>
          </a:xfrm>
          <a:custGeom>
            <a:avLst/>
            <a:gdLst/>
            <a:ahLst/>
            <a:cxnLst/>
            <a:rect l="l" t="t" r="r" b="b"/>
            <a:pathLst>
              <a:path w="1069" h="1069" extrusionOk="0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7362245" y="2117893"/>
            <a:ext cx="43443" cy="43484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7453152" y="2117893"/>
            <a:ext cx="43443" cy="43484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6929423" y="2295641"/>
            <a:ext cx="2316211" cy="41"/>
          </a:xfrm>
          <a:custGeom>
            <a:avLst/>
            <a:gdLst/>
            <a:ahLst/>
            <a:cxnLst/>
            <a:rect l="l" t="t" r="r" b="b"/>
            <a:pathLst>
              <a:path w="56942" h="1" fill="none" extrusionOk="0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9385227" y="2295641"/>
            <a:ext cx="179140" cy="41"/>
          </a:xfrm>
          <a:custGeom>
            <a:avLst/>
            <a:gdLst/>
            <a:ahLst/>
            <a:cxnLst/>
            <a:rect l="l" t="t" r="r" b="b"/>
            <a:pathLst>
              <a:path w="4404" h="1" fill="none" extrusionOk="0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1" name="Google Shape;571;p27"/>
          <p:cNvSpPr/>
          <p:nvPr/>
        </p:nvSpPr>
        <p:spPr>
          <a:xfrm>
            <a:off x="9663361" y="2295641"/>
            <a:ext cx="227993" cy="41"/>
          </a:xfrm>
          <a:custGeom>
            <a:avLst/>
            <a:gdLst/>
            <a:ahLst/>
            <a:cxnLst/>
            <a:rect l="l" t="t" r="r" b="b"/>
            <a:pathLst>
              <a:path w="5605" h="1" fill="none" extrusionOk="0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6929423" y="2477456"/>
            <a:ext cx="1449188" cy="41"/>
          </a:xfrm>
          <a:custGeom>
            <a:avLst/>
            <a:gdLst/>
            <a:ahLst/>
            <a:cxnLst/>
            <a:rect l="l" t="t" r="r" b="b"/>
            <a:pathLst>
              <a:path w="35627" h="1" fill="none" extrusionOk="0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3" name="Google Shape;573;p27"/>
          <p:cNvSpPr/>
          <p:nvPr/>
        </p:nvSpPr>
        <p:spPr>
          <a:xfrm>
            <a:off x="8592847" y="2477456"/>
            <a:ext cx="260575" cy="41"/>
          </a:xfrm>
          <a:custGeom>
            <a:avLst/>
            <a:gdLst/>
            <a:ahLst/>
            <a:cxnLst/>
            <a:rect l="l" t="t" r="r" b="b"/>
            <a:pathLst>
              <a:path w="6406" h="1" fill="none" extrusionOk="0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8147827" y="2581949"/>
            <a:ext cx="705619" cy="41"/>
          </a:xfrm>
          <a:custGeom>
            <a:avLst/>
            <a:gdLst/>
            <a:ahLst/>
            <a:cxnLst/>
            <a:rect l="l" t="t" r="r" b="b"/>
            <a:pathLst>
              <a:path w="17347" h="1" fill="none" extrusionOk="0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7909027" y="2581949"/>
            <a:ext cx="142531" cy="41"/>
          </a:xfrm>
          <a:custGeom>
            <a:avLst/>
            <a:gdLst/>
            <a:ahLst/>
            <a:cxnLst/>
            <a:rect l="l" t="t" r="r" b="b"/>
            <a:pathLst>
              <a:path w="3504" h="1" fill="none" extrusionOk="0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7653957" y="2581949"/>
            <a:ext cx="142491" cy="41"/>
          </a:xfrm>
          <a:custGeom>
            <a:avLst/>
            <a:gdLst/>
            <a:ahLst/>
            <a:cxnLst/>
            <a:rect l="l" t="t" r="r" b="b"/>
            <a:pathLst>
              <a:path w="3503" h="1" fill="none" extrusionOk="0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7400230" y="2581949"/>
            <a:ext cx="141148" cy="4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7145161" y="2581949"/>
            <a:ext cx="141148" cy="4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7145160" y="2709464"/>
            <a:ext cx="2196784" cy="41"/>
          </a:xfrm>
          <a:custGeom>
            <a:avLst/>
            <a:gdLst/>
            <a:ahLst/>
            <a:cxnLst/>
            <a:rect l="l" t="t" r="r" b="b"/>
            <a:pathLst>
              <a:path w="54006" h="1" fill="none" extrusionOk="0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6929423" y="2581949"/>
            <a:ext cx="51619" cy="4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6929423" y="2709464"/>
            <a:ext cx="51619" cy="4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6929423" y="2837018"/>
            <a:ext cx="51619" cy="4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6929423" y="2964533"/>
            <a:ext cx="51619" cy="4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9474752" y="2709464"/>
            <a:ext cx="302635" cy="41"/>
          </a:xfrm>
          <a:custGeom>
            <a:avLst/>
            <a:gdLst/>
            <a:ahLst/>
            <a:cxnLst/>
            <a:rect l="l" t="t" r="r" b="b"/>
            <a:pathLst>
              <a:path w="7440" h="1" fill="none" extrusionOk="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7139752" y="2837018"/>
            <a:ext cx="607913" cy="4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7139752" y="2967258"/>
            <a:ext cx="607913" cy="4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7139752" y="3098881"/>
            <a:ext cx="607913" cy="4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7139752" y="3229121"/>
            <a:ext cx="607913" cy="4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8147827" y="3229121"/>
            <a:ext cx="1237507" cy="41"/>
          </a:xfrm>
          <a:custGeom>
            <a:avLst/>
            <a:gdLst/>
            <a:ahLst/>
            <a:cxnLst/>
            <a:rect l="l" t="t" r="r" b="b"/>
            <a:pathLst>
              <a:path w="30423" h="1" fill="none" extrusionOk="0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8881841" y="3098881"/>
            <a:ext cx="503455" cy="41"/>
          </a:xfrm>
          <a:custGeom>
            <a:avLst/>
            <a:gdLst/>
            <a:ahLst/>
            <a:cxnLst/>
            <a:rect l="l" t="t" r="r" b="b"/>
            <a:pathLst>
              <a:path w="12377" h="1" fill="none" extrusionOk="0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9185759" y="2964533"/>
            <a:ext cx="199519" cy="41"/>
          </a:xfrm>
          <a:custGeom>
            <a:avLst/>
            <a:gdLst/>
            <a:ahLst/>
            <a:cxnLst/>
            <a:rect l="l" t="t" r="r" b="b"/>
            <a:pathLst>
              <a:path w="4905" h="1" fill="none" extrusionOk="0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10136009" y="1747159"/>
            <a:ext cx="1485731" cy="2312535"/>
          </a:xfrm>
          <a:custGeom>
            <a:avLst/>
            <a:gdLst/>
            <a:ahLst/>
            <a:cxnLst/>
            <a:rect l="l" t="t" r="r" b="b"/>
            <a:pathLst>
              <a:path w="42498" h="66148" extrusionOk="0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10136009" y="1747159"/>
            <a:ext cx="1485731" cy="209935"/>
          </a:xfrm>
          <a:custGeom>
            <a:avLst/>
            <a:gdLst/>
            <a:ahLst/>
            <a:cxnLst/>
            <a:rect l="l" t="t" r="r" b="b"/>
            <a:pathLst>
              <a:path w="42498" h="6005" extrusionOk="0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10540671" y="1817113"/>
            <a:ext cx="71179" cy="36219"/>
          </a:xfrm>
          <a:custGeom>
            <a:avLst/>
            <a:gdLst/>
            <a:ahLst/>
            <a:cxnLst/>
            <a:rect l="l" t="t" r="r" b="b"/>
            <a:pathLst>
              <a:path w="2036" h="1036" extrusionOk="0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10280605" y="2250931"/>
            <a:ext cx="943465" cy="22200"/>
          </a:xfrm>
          <a:custGeom>
            <a:avLst/>
            <a:gdLst/>
            <a:ahLst/>
            <a:cxnLst/>
            <a:rect l="l" t="t" r="r" b="b"/>
            <a:pathLst>
              <a:path w="2698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10280604" y="2354727"/>
            <a:ext cx="539992" cy="22200"/>
          </a:xfrm>
          <a:custGeom>
            <a:avLst/>
            <a:gdLst/>
            <a:ahLst/>
            <a:cxnLst/>
            <a:rect l="l" t="t" r="r" b="b"/>
            <a:pathLst>
              <a:path w="15446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10829859" y="2354727"/>
            <a:ext cx="170325" cy="22200"/>
          </a:xfrm>
          <a:custGeom>
            <a:avLst/>
            <a:gdLst/>
            <a:ahLst/>
            <a:cxnLst/>
            <a:rect l="l" t="t" r="r" b="b"/>
            <a:pathLst>
              <a:path w="4872" h="635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10885865" y="2414194"/>
            <a:ext cx="114319" cy="23353"/>
          </a:xfrm>
          <a:custGeom>
            <a:avLst/>
            <a:gdLst/>
            <a:ahLst/>
            <a:cxnLst/>
            <a:rect l="l" t="t" r="r" b="b"/>
            <a:pathLst>
              <a:path w="3270" h="668" extrusionOk="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10829859" y="2414194"/>
            <a:ext cx="33876" cy="23353"/>
          </a:xfrm>
          <a:custGeom>
            <a:avLst/>
            <a:gdLst/>
            <a:ahLst/>
            <a:cxnLst/>
            <a:rect l="l" t="t" r="r" b="b"/>
            <a:pathLst>
              <a:path w="969" h="668" extrusionOk="0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10695752" y="2414194"/>
            <a:ext cx="102677" cy="23353"/>
          </a:xfrm>
          <a:custGeom>
            <a:avLst/>
            <a:gdLst/>
            <a:ahLst/>
            <a:cxnLst/>
            <a:rect l="l" t="t" r="r" b="b"/>
            <a:pathLst>
              <a:path w="2937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10550005" y="2414194"/>
            <a:ext cx="103831" cy="23353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10404222" y="2414194"/>
            <a:ext cx="103831" cy="23353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10404222" y="2487679"/>
            <a:ext cx="875817" cy="22200"/>
          </a:xfrm>
          <a:custGeom>
            <a:avLst/>
            <a:gdLst/>
            <a:ahLst/>
            <a:cxnLst/>
            <a:rect l="l" t="t" r="r" b="b"/>
            <a:pathLst>
              <a:path w="25052" h="635" extrusionOk="0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10280604" y="2414194"/>
            <a:ext cx="52509" cy="23353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10280604" y="2487679"/>
            <a:ext cx="52509" cy="22200"/>
          </a:xfrm>
          <a:custGeom>
            <a:avLst/>
            <a:gdLst/>
            <a:ahLst/>
            <a:cxnLst/>
            <a:rect l="l" t="t" r="r" b="b"/>
            <a:pathLst>
              <a:path w="1502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10280604" y="2559977"/>
            <a:ext cx="52509" cy="23353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10280604" y="2633463"/>
            <a:ext cx="52509" cy="22164"/>
          </a:xfrm>
          <a:custGeom>
            <a:avLst/>
            <a:gdLst/>
            <a:ahLst/>
            <a:cxnLst/>
            <a:rect l="l" t="t" r="r" b="b"/>
            <a:pathLst>
              <a:path w="1502" h="634" extrusionOk="0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11333666" y="2487679"/>
            <a:ext cx="128303" cy="22200"/>
          </a:xfrm>
          <a:custGeom>
            <a:avLst/>
            <a:gdLst/>
            <a:ahLst/>
            <a:cxnLst/>
            <a:rect l="l" t="t" r="r" b="b"/>
            <a:pathLst>
              <a:path w="3670" h="635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10400726" y="2559977"/>
            <a:ext cx="369701" cy="23353"/>
          </a:xfrm>
          <a:custGeom>
            <a:avLst/>
            <a:gdLst/>
            <a:ahLst/>
            <a:cxnLst/>
            <a:rect l="l" t="t" r="r" b="b"/>
            <a:pathLst>
              <a:path w="10575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10885865" y="2783896"/>
            <a:ext cx="418681" cy="23353"/>
          </a:xfrm>
          <a:custGeom>
            <a:avLst/>
            <a:gdLst/>
            <a:ahLst/>
            <a:cxnLst/>
            <a:rect l="l" t="t" r="r" b="b"/>
            <a:pathLst>
              <a:path w="11976" h="668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10994309" y="2709256"/>
            <a:ext cx="310235" cy="23353"/>
          </a:xfrm>
          <a:custGeom>
            <a:avLst/>
            <a:gdLst/>
            <a:ahLst/>
            <a:cxnLst/>
            <a:rect l="l" t="t" r="r" b="b"/>
            <a:pathLst>
              <a:path w="8874" h="668" extrusionOk="0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11168061" y="2633463"/>
            <a:ext cx="136484" cy="22164"/>
          </a:xfrm>
          <a:custGeom>
            <a:avLst/>
            <a:gdLst/>
            <a:ahLst/>
            <a:cxnLst/>
            <a:rect l="l" t="t" r="r" b="b"/>
            <a:pathLst>
              <a:path w="3904" h="634" extrusionOk="0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10280604" y="2149477"/>
            <a:ext cx="437349" cy="22200"/>
          </a:xfrm>
          <a:custGeom>
            <a:avLst/>
            <a:gdLst/>
            <a:ahLst/>
            <a:cxnLst/>
            <a:rect l="l" t="t" r="r" b="b"/>
            <a:pathLst>
              <a:path w="12510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10280604" y="2961142"/>
            <a:ext cx="706752" cy="23353"/>
          </a:xfrm>
          <a:custGeom>
            <a:avLst/>
            <a:gdLst/>
            <a:ahLst/>
            <a:cxnLst/>
            <a:rect l="l" t="t" r="r" b="b"/>
            <a:pathLst>
              <a:path w="20216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10280604" y="3050919"/>
            <a:ext cx="706752" cy="23388"/>
          </a:xfrm>
          <a:custGeom>
            <a:avLst/>
            <a:gdLst/>
            <a:ahLst/>
            <a:cxnLst/>
            <a:rect l="l" t="t" r="r" b="b"/>
            <a:pathLst>
              <a:path w="20216" h="669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10280604" y="3140732"/>
            <a:ext cx="705563" cy="23353"/>
          </a:xfrm>
          <a:custGeom>
            <a:avLst/>
            <a:gdLst/>
            <a:ahLst/>
            <a:cxnLst/>
            <a:rect l="l" t="t" r="r" b="b"/>
            <a:pathLst>
              <a:path w="20182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10280604" y="3677155"/>
            <a:ext cx="705563" cy="22200"/>
          </a:xfrm>
          <a:custGeom>
            <a:avLst/>
            <a:gdLst/>
            <a:ahLst/>
            <a:cxnLst/>
            <a:rect l="l" t="t" r="r" b="b"/>
            <a:pathLst>
              <a:path w="20182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10923167" y="2857345"/>
            <a:ext cx="209935" cy="22200"/>
          </a:xfrm>
          <a:custGeom>
            <a:avLst/>
            <a:gdLst/>
            <a:ahLst/>
            <a:cxnLst/>
            <a:rect l="l" t="t" r="r" b="b"/>
            <a:pathLst>
              <a:path w="6005" h="635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11201867" y="2857345"/>
            <a:ext cx="279925" cy="22200"/>
          </a:xfrm>
          <a:custGeom>
            <a:avLst/>
            <a:gdLst/>
            <a:ahLst/>
            <a:cxnLst/>
            <a:rect l="l" t="t" r="r" b="b"/>
            <a:pathLst>
              <a:path w="8007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11201867" y="2961142"/>
            <a:ext cx="279925" cy="23353"/>
          </a:xfrm>
          <a:custGeom>
            <a:avLst/>
            <a:gdLst/>
            <a:ahLst/>
            <a:cxnLst/>
            <a:rect l="l" t="t" r="r" b="b"/>
            <a:pathLst>
              <a:path w="8007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10280605" y="3813603"/>
            <a:ext cx="107327" cy="2220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5" name="Google Shape;625;p27"/>
          <p:cNvSpPr/>
          <p:nvPr/>
        </p:nvSpPr>
        <p:spPr>
          <a:xfrm>
            <a:off x="10280605" y="3881252"/>
            <a:ext cx="107327" cy="23353"/>
          </a:xfrm>
          <a:custGeom>
            <a:avLst/>
            <a:gdLst/>
            <a:ahLst/>
            <a:cxnLst/>
            <a:rect l="l" t="t" r="r" b="b"/>
            <a:pathLst>
              <a:path w="3070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6" name="Google Shape;626;p27"/>
          <p:cNvSpPr/>
          <p:nvPr/>
        </p:nvSpPr>
        <p:spPr>
          <a:xfrm>
            <a:off x="10415899" y="3881252"/>
            <a:ext cx="656584" cy="23353"/>
          </a:xfrm>
          <a:custGeom>
            <a:avLst/>
            <a:gdLst/>
            <a:ahLst/>
            <a:cxnLst/>
            <a:rect l="l" t="t" r="r" b="b"/>
            <a:pathLst>
              <a:path w="18781" h="668" extrusionOk="0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10446208" y="3813603"/>
            <a:ext cx="106139" cy="2220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10610626" y="3813603"/>
            <a:ext cx="107327" cy="2220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10776230" y="3813603"/>
            <a:ext cx="106173" cy="22200"/>
          </a:xfrm>
          <a:custGeom>
            <a:avLst/>
            <a:gdLst/>
            <a:ahLst/>
            <a:cxnLst/>
            <a:rect l="l" t="t" r="r" b="b"/>
            <a:pathLst>
              <a:path w="303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0" name="Google Shape;630;p27"/>
          <p:cNvSpPr/>
          <p:nvPr/>
        </p:nvSpPr>
        <p:spPr>
          <a:xfrm>
            <a:off x="10941835" y="3813603"/>
            <a:ext cx="106139" cy="2220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1" name="Google Shape;631;p27"/>
          <p:cNvSpPr/>
          <p:nvPr/>
        </p:nvSpPr>
        <p:spPr>
          <a:xfrm>
            <a:off x="11106251" y="3813603"/>
            <a:ext cx="107327" cy="2220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2" name="Google Shape;632;p27"/>
          <p:cNvSpPr/>
          <p:nvPr/>
        </p:nvSpPr>
        <p:spPr>
          <a:xfrm>
            <a:off x="11271857" y="3813603"/>
            <a:ext cx="72332" cy="22200"/>
          </a:xfrm>
          <a:custGeom>
            <a:avLst/>
            <a:gdLst/>
            <a:ahLst/>
            <a:cxnLst/>
            <a:rect l="l" t="t" r="r" b="b"/>
            <a:pathLst>
              <a:path w="2069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11050281" y="1092955"/>
            <a:ext cx="1141724" cy="52509"/>
          </a:xfrm>
          <a:custGeom>
            <a:avLst/>
            <a:gdLst/>
            <a:ahLst/>
            <a:cxnLst/>
            <a:rect l="l" t="t" r="r" b="b"/>
            <a:pathLst>
              <a:path w="32658" h="1502" extrusionOk="0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90ABD-4644-44AB-8AFE-59F3BD83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075" y="1887271"/>
            <a:ext cx="3264323" cy="1642581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F14BF5F-7610-4839-ACBB-11A87AC1D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967552"/>
              </p:ext>
            </p:extLst>
          </p:nvPr>
        </p:nvGraphicFramePr>
        <p:xfrm>
          <a:off x="643946" y="2754065"/>
          <a:ext cx="4296015" cy="212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6015">
                  <a:extLst>
                    <a:ext uri="{9D8B030D-6E8A-4147-A177-3AD203B41FA5}">
                      <a16:colId xmlns:a16="http://schemas.microsoft.com/office/drawing/2014/main" val="2999624678"/>
                    </a:ext>
                  </a:extLst>
                </a:gridCol>
              </a:tblGrid>
              <a:tr h="2126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EF3F5"/>
                        </a:buClr>
                        <a:buSzPts val="2800"/>
                        <a:buFont typeface="Roboto"/>
                        <a:buNone/>
                        <a:tabLst/>
                        <a:defRPr/>
                      </a:pPr>
                      <a:r>
                        <a:rPr kumimoji="0" lang="en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Presented By,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EF3F5"/>
                        </a:buClr>
                        <a:buSzPts val="2800"/>
                        <a:buFont typeface="Roboto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Afiya Humaira – 222002112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EF3F5"/>
                        </a:buClr>
                        <a:buSzPts val="2800"/>
                        <a:buFont typeface="Roboto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Ibadullah</a:t>
                      </a: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 </a:t>
                      </a:r>
                      <a:r>
                        <a:rPr kumimoji="0" lang="en-US" sz="21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Saif</a:t>
                      </a: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 – 221002108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EF3F5"/>
                        </a:buClr>
                        <a:buSzPts val="2800"/>
                        <a:buFont typeface="Roboto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MD:Nahid</a:t>
                      </a: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 bin Arafat – 222002031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EF3F5"/>
                        </a:buClr>
                        <a:buSzPts val="2800"/>
                        <a:buFont typeface="Roboto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Roboto"/>
                        </a:rPr>
                        <a:t>Green University of Bangladesh</a:t>
                      </a:r>
                    </a:p>
                    <a:p>
                      <a:endParaRPr lang="en-US" sz="25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30386919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D5A4A66-5F27-4BC5-8D96-EA6939775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609052"/>
              </p:ext>
            </p:extLst>
          </p:nvPr>
        </p:nvGraphicFramePr>
        <p:xfrm>
          <a:off x="3277292" y="4942313"/>
          <a:ext cx="4086323" cy="1801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6323">
                  <a:extLst>
                    <a:ext uri="{9D8B030D-6E8A-4147-A177-3AD203B41FA5}">
                      <a16:colId xmlns:a16="http://schemas.microsoft.com/office/drawing/2014/main" val="630901422"/>
                    </a:ext>
                  </a:extLst>
                </a:gridCol>
              </a:tblGrid>
              <a:tr h="1801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Presented To,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Ms. Fatema </a:t>
                      </a:r>
                      <a:r>
                        <a:rPr kumimoji="0" lang="en-US" sz="21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Tuj</a:t>
                      </a: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 </a:t>
                      </a:r>
                      <a:r>
                        <a:rPr kumimoji="0" lang="en-US" sz="21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Johora</a:t>
                      </a:r>
                      <a:endParaRPr kumimoji="0" lang="en-US" sz="21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Lecturer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1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sym typeface="Arial"/>
                        </a:rPr>
                        <a:t>Green University of Bangladesh</a:t>
                      </a:r>
                    </a:p>
                    <a:p>
                      <a:endParaRPr lang="en-US" sz="25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30412338"/>
                  </a:ext>
                </a:extLst>
              </a:tr>
            </a:tbl>
          </a:graphicData>
        </a:graphic>
      </p:graphicFrame>
      <p:pic>
        <p:nvPicPr>
          <p:cNvPr id="199" name="Picture 198">
            <a:extLst>
              <a:ext uri="{FF2B5EF4-FFF2-40B4-BE49-F238E27FC236}">
                <a16:creationId xmlns:a16="http://schemas.microsoft.com/office/drawing/2014/main" id="{B08F551B-1966-4DE8-B650-8C2058EAC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46" y="2009136"/>
            <a:ext cx="1362076" cy="1983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53086A-34E0-4D6C-8E9F-F4594F844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5712" y="1054523"/>
            <a:ext cx="1138019" cy="1048603"/>
          </a:xfrm>
          <a:prstGeom prst="rect">
            <a:avLst/>
          </a:prstGeom>
        </p:spPr>
      </p:pic>
      <p:sp>
        <p:nvSpPr>
          <p:cNvPr id="201" name="Google Shape;635;p27">
            <a:extLst>
              <a:ext uri="{FF2B5EF4-FFF2-40B4-BE49-F238E27FC236}">
                <a16:creationId xmlns:a16="http://schemas.microsoft.com/office/drawing/2014/main" id="{CBDA2611-54E4-4059-A9AE-95E80F6F830D}"/>
              </a:ext>
            </a:extLst>
          </p:cNvPr>
          <p:cNvSpPr/>
          <p:nvPr/>
        </p:nvSpPr>
        <p:spPr>
          <a:xfrm>
            <a:off x="11027549" y="997661"/>
            <a:ext cx="1141724" cy="202339"/>
          </a:xfrm>
          <a:custGeom>
            <a:avLst/>
            <a:gdLst/>
            <a:ahLst/>
            <a:cxnLst/>
            <a:rect l="l" t="t" r="r" b="b"/>
            <a:pathLst>
              <a:path w="32658" h="4605" extrusionOk="0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29CFE8-3A63-4C4B-9EAA-A7CCBD1A7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8871" y="1266203"/>
            <a:ext cx="1048603" cy="7285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9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/>
              <a:t>TABLE OF CONTENTS</a:t>
            </a:r>
            <a:endParaRPr/>
          </a:p>
        </p:txBody>
      </p:sp>
      <p:sp>
        <p:nvSpPr>
          <p:cNvPr id="674" name="Google Shape;674;p29"/>
          <p:cNvSpPr txBox="1">
            <a:spLocks noGrp="1"/>
          </p:cNvSpPr>
          <p:nvPr>
            <p:ph type="subTitle" idx="1"/>
          </p:nvPr>
        </p:nvSpPr>
        <p:spPr>
          <a:xfrm>
            <a:off x="959467" y="2360833"/>
            <a:ext cx="30896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Business Overview</a:t>
            </a:r>
            <a:endParaRPr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idx="2"/>
          </p:nvPr>
        </p:nvSpPr>
        <p:spPr>
          <a:xfrm>
            <a:off x="1772267" y="1757767"/>
            <a:ext cx="1464000" cy="51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676" name="Google Shape;676;p29"/>
          <p:cNvSpPr txBox="1">
            <a:spLocks noGrp="1"/>
          </p:cNvSpPr>
          <p:nvPr>
            <p:ph type="subTitle" idx="3"/>
          </p:nvPr>
        </p:nvSpPr>
        <p:spPr>
          <a:xfrm>
            <a:off x="960133" y="2862288"/>
            <a:ext cx="3089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77" name="Google Shape;677;p29"/>
          <p:cNvSpPr txBox="1">
            <a:spLocks noGrp="1"/>
          </p:cNvSpPr>
          <p:nvPr>
            <p:ph type="subTitle" idx="4"/>
          </p:nvPr>
        </p:nvSpPr>
        <p:spPr>
          <a:xfrm>
            <a:off x="4551333" y="2360833"/>
            <a:ext cx="30892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Market Analysis</a:t>
            </a:r>
            <a:endParaRPr/>
          </a:p>
        </p:txBody>
      </p:sp>
      <p:sp>
        <p:nvSpPr>
          <p:cNvPr id="678" name="Google Shape;678;p29"/>
          <p:cNvSpPr txBox="1">
            <a:spLocks noGrp="1"/>
          </p:cNvSpPr>
          <p:nvPr>
            <p:ph type="title" idx="5"/>
          </p:nvPr>
        </p:nvSpPr>
        <p:spPr>
          <a:xfrm>
            <a:off x="5364033" y="1757767"/>
            <a:ext cx="1464000" cy="51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679" name="Google Shape;679;p29"/>
          <p:cNvSpPr txBox="1">
            <a:spLocks noGrp="1"/>
          </p:cNvSpPr>
          <p:nvPr>
            <p:ph type="subTitle" idx="6"/>
          </p:nvPr>
        </p:nvSpPr>
        <p:spPr>
          <a:xfrm>
            <a:off x="4551651" y="2862288"/>
            <a:ext cx="3089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0" name="Google Shape;680;p29"/>
          <p:cNvSpPr txBox="1">
            <a:spLocks noGrp="1"/>
          </p:cNvSpPr>
          <p:nvPr>
            <p:ph type="subTitle" idx="7"/>
          </p:nvPr>
        </p:nvSpPr>
        <p:spPr>
          <a:xfrm>
            <a:off x="8142733" y="2360833"/>
            <a:ext cx="30892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Sales and Marketing Plan</a:t>
            </a:r>
            <a:endParaRPr/>
          </a:p>
        </p:txBody>
      </p:sp>
      <p:sp>
        <p:nvSpPr>
          <p:cNvPr id="681" name="Google Shape;681;p29"/>
          <p:cNvSpPr txBox="1">
            <a:spLocks noGrp="1"/>
          </p:cNvSpPr>
          <p:nvPr>
            <p:ph type="title" idx="8"/>
          </p:nvPr>
        </p:nvSpPr>
        <p:spPr>
          <a:xfrm>
            <a:off x="8955400" y="1757767"/>
            <a:ext cx="1464000" cy="51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682" name="Google Shape;682;p29"/>
          <p:cNvSpPr txBox="1">
            <a:spLocks noGrp="1"/>
          </p:cNvSpPr>
          <p:nvPr>
            <p:ph type="subTitle" idx="9"/>
          </p:nvPr>
        </p:nvSpPr>
        <p:spPr>
          <a:xfrm>
            <a:off x="8142801" y="2862288"/>
            <a:ext cx="3089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3" name="Google Shape;683;p29"/>
          <p:cNvSpPr txBox="1">
            <a:spLocks noGrp="1"/>
          </p:cNvSpPr>
          <p:nvPr>
            <p:ph type="subTitle" idx="13"/>
          </p:nvPr>
        </p:nvSpPr>
        <p:spPr>
          <a:xfrm>
            <a:off x="959467" y="4527303"/>
            <a:ext cx="30896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Management Plan</a:t>
            </a:r>
            <a:endParaRPr/>
          </a:p>
        </p:txBody>
      </p:sp>
      <p:sp>
        <p:nvSpPr>
          <p:cNvPr id="684" name="Google Shape;684;p29"/>
          <p:cNvSpPr txBox="1">
            <a:spLocks noGrp="1"/>
          </p:cNvSpPr>
          <p:nvPr>
            <p:ph type="title" idx="14"/>
          </p:nvPr>
        </p:nvSpPr>
        <p:spPr>
          <a:xfrm>
            <a:off x="1772267" y="3924248"/>
            <a:ext cx="1464000" cy="51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685" name="Google Shape;685;p29"/>
          <p:cNvSpPr txBox="1">
            <a:spLocks noGrp="1"/>
          </p:cNvSpPr>
          <p:nvPr>
            <p:ph type="subTitle" idx="15"/>
          </p:nvPr>
        </p:nvSpPr>
        <p:spPr>
          <a:xfrm>
            <a:off x="960133" y="5028769"/>
            <a:ext cx="3089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6" name="Google Shape;686;p29"/>
          <p:cNvSpPr txBox="1">
            <a:spLocks noGrp="1"/>
          </p:cNvSpPr>
          <p:nvPr>
            <p:ph type="subTitle" idx="16"/>
          </p:nvPr>
        </p:nvSpPr>
        <p:spPr>
          <a:xfrm>
            <a:off x="4551200" y="4527303"/>
            <a:ext cx="30896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Operating Plan</a:t>
            </a:r>
            <a:endParaRPr/>
          </a:p>
        </p:txBody>
      </p:sp>
      <p:sp>
        <p:nvSpPr>
          <p:cNvPr id="687" name="Google Shape;687;p29"/>
          <p:cNvSpPr txBox="1">
            <a:spLocks noGrp="1"/>
          </p:cNvSpPr>
          <p:nvPr>
            <p:ph type="title" idx="17"/>
          </p:nvPr>
        </p:nvSpPr>
        <p:spPr>
          <a:xfrm>
            <a:off x="5364033" y="3924248"/>
            <a:ext cx="1464000" cy="51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05</a:t>
            </a:r>
            <a:endParaRPr/>
          </a:p>
        </p:txBody>
      </p:sp>
      <p:sp>
        <p:nvSpPr>
          <p:cNvPr id="688" name="Google Shape;688;p29"/>
          <p:cNvSpPr txBox="1">
            <a:spLocks noGrp="1"/>
          </p:cNvSpPr>
          <p:nvPr>
            <p:ph type="subTitle" idx="18"/>
          </p:nvPr>
        </p:nvSpPr>
        <p:spPr>
          <a:xfrm>
            <a:off x="4551651" y="5028769"/>
            <a:ext cx="3089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89" name="Google Shape;689;p29"/>
          <p:cNvSpPr txBox="1">
            <a:spLocks noGrp="1"/>
          </p:cNvSpPr>
          <p:nvPr>
            <p:ph type="subTitle" idx="19"/>
          </p:nvPr>
        </p:nvSpPr>
        <p:spPr>
          <a:xfrm>
            <a:off x="8142733" y="4527300"/>
            <a:ext cx="30892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Financial Plan</a:t>
            </a:r>
            <a:endParaRPr/>
          </a:p>
        </p:txBody>
      </p:sp>
      <p:sp>
        <p:nvSpPr>
          <p:cNvPr id="690" name="Google Shape;690;p29"/>
          <p:cNvSpPr txBox="1">
            <a:spLocks noGrp="1"/>
          </p:cNvSpPr>
          <p:nvPr>
            <p:ph type="title" idx="20"/>
          </p:nvPr>
        </p:nvSpPr>
        <p:spPr>
          <a:xfrm>
            <a:off x="8955400" y="3924248"/>
            <a:ext cx="1464000" cy="51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06</a:t>
            </a:r>
            <a:endParaRPr/>
          </a:p>
        </p:txBody>
      </p:sp>
      <p:sp>
        <p:nvSpPr>
          <p:cNvPr id="691" name="Google Shape;691;p29"/>
          <p:cNvSpPr txBox="1">
            <a:spLocks noGrp="1"/>
          </p:cNvSpPr>
          <p:nvPr>
            <p:ph type="subTitle" idx="21"/>
          </p:nvPr>
        </p:nvSpPr>
        <p:spPr>
          <a:xfrm>
            <a:off x="8142801" y="5028769"/>
            <a:ext cx="3089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/>
              <a:t>Here you could describe the topic of the section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667" name="Google Shape;667;p28"/>
          <p:cNvSpPr txBox="1">
            <a:spLocks noGrp="1"/>
          </p:cNvSpPr>
          <p:nvPr>
            <p:ph type="body" idx="1"/>
          </p:nvPr>
        </p:nvSpPr>
        <p:spPr>
          <a:xfrm>
            <a:off x="960000" y="1473133"/>
            <a:ext cx="10520800" cy="419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2133"/>
              </a:spcBef>
              <a:buFont typeface="Raleway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b="1" dirty="0">
                <a:solidFill>
                  <a:schemeClr val="accent1"/>
                </a:solidFill>
                <a:uFill>
                  <a:noFill/>
                </a:uFill>
              </a:rPr>
              <a:t>Microsoft Teams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?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C8AEF8"/>
                </a:solidFill>
                <a:uFill>
                  <a:noFill/>
                </a:uFill>
              </a:rPr>
              <a:t>Cloud-based </a:t>
            </a:r>
            <a:r>
              <a:rPr lang="en-US" b="1" dirty="0">
                <a:solidFill>
                  <a:srgbClr val="CEF3F5"/>
                </a:solidFill>
              </a:rPr>
              <a:t> </a:t>
            </a:r>
            <a:r>
              <a:rPr lang="en-US" dirty="0">
                <a:solidFill>
                  <a:srgbClr val="CEF3F5"/>
                </a:solidFill>
              </a:rPr>
              <a:t>platform.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C8AEF8"/>
                </a:solidFill>
                <a:uFill>
                  <a:noFill/>
                </a:uFill>
              </a:rPr>
              <a:t>Seamless </a:t>
            </a:r>
            <a:r>
              <a:rPr lang="en-US" dirty="0">
                <a:solidFill>
                  <a:srgbClr val="CEF3F5"/>
                </a:solidFill>
              </a:rPr>
              <a:t>integration.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High-quality</a:t>
            </a:r>
            <a:r>
              <a:rPr lang="en-US" dirty="0"/>
              <a:t> video and sound.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9154F8">
                    <a:lumMod val="40000"/>
                    <a:lumOff val="60000"/>
                  </a:srgbClr>
                </a:solidFill>
              </a:rPr>
              <a:t>Comprehensive </a:t>
            </a:r>
            <a:r>
              <a:rPr lang="en-US" dirty="0">
                <a:solidFill>
                  <a:srgbClr val="CEF3F5"/>
                </a:solidFill>
              </a:rPr>
              <a:t>collaboration tools.</a:t>
            </a:r>
          </a:p>
          <a:p>
            <a:pPr marL="812780" indent="0" defTabSz="1219170">
              <a:buClr>
                <a:srgbClr val="CEF3F5"/>
              </a:buClr>
              <a:buNone/>
              <a:defRPr/>
            </a:pPr>
            <a:endParaRPr lang="en-US" dirty="0">
              <a:solidFill>
                <a:srgbClr val="CEF3F5"/>
              </a:solidFill>
            </a:endParaRPr>
          </a:p>
          <a:p>
            <a:pPr>
              <a:spcBef>
                <a:spcPts val="2133"/>
              </a:spcBef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b="1" dirty="0">
                <a:solidFill>
                  <a:schemeClr val="accent1"/>
                </a:solidFill>
                <a:uFill>
                  <a:noFill/>
                </a:uFill>
              </a:rPr>
              <a:t>Zoom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?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C8AEF8"/>
                </a:solidFill>
                <a:uFill>
                  <a:noFill/>
                </a:uFill>
              </a:rPr>
              <a:t>Cloud-based </a:t>
            </a:r>
            <a:r>
              <a:rPr lang="en-US" b="1" dirty="0">
                <a:solidFill>
                  <a:srgbClr val="CEF3F5"/>
                </a:solidFill>
              </a:rPr>
              <a:t> </a:t>
            </a:r>
            <a:r>
              <a:rPr lang="en-US" dirty="0">
                <a:solidFill>
                  <a:srgbClr val="CEF3F5"/>
                </a:solidFill>
              </a:rPr>
              <a:t>platform.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C8AEF8"/>
                </a:solidFill>
                <a:uFill>
                  <a:noFill/>
                </a:uFill>
              </a:rPr>
              <a:t>Seamless </a:t>
            </a:r>
            <a:r>
              <a:rPr lang="en-US" dirty="0">
                <a:solidFill>
                  <a:srgbClr val="CEF3F5"/>
                </a:solidFill>
              </a:rPr>
              <a:t>integration.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9154F8">
                    <a:lumMod val="40000"/>
                    <a:lumOff val="60000"/>
                  </a:srgbClr>
                </a:solidFill>
              </a:rPr>
              <a:t>High-quality</a:t>
            </a:r>
            <a:r>
              <a:rPr lang="en-US" dirty="0">
                <a:solidFill>
                  <a:srgbClr val="CEF3F5"/>
                </a:solidFill>
              </a:rPr>
              <a:t> video and sound.</a:t>
            </a:r>
          </a:p>
          <a:p>
            <a:pPr marL="1219170" defTabSz="1219170">
              <a:buClr>
                <a:srgbClr val="CEF3F5"/>
              </a:buClr>
              <a:buFont typeface="Raleway"/>
              <a:buChar char="●"/>
              <a:defRPr/>
            </a:pPr>
            <a:r>
              <a:rPr lang="en-US" b="1" dirty="0">
                <a:solidFill>
                  <a:srgbClr val="9154F8">
                    <a:lumMod val="40000"/>
                    <a:lumOff val="60000"/>
                  </a:srgbClr>
                </a:solidFill>
              </a:rPr>
              <a:t>Comprehensive </a:t>
            </a:r>
            <a:r>
              <a:rPr lang="en-US" dirty="0">
                <a:solidFill>
                  <a:srgbClr val="CEF3F5"/>
                </a:solidFill>
              </a:rPr>
              <a:t>collaboration tools.</a:t>
            </a:r>
          </a:p>
          <a:p>
            <a:pPr marL="203195" indent="0">
              <a:spcBef>
                <a:spcPts val="2133"/>
              </a:spcBef>
              <a:buNone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2133"/>
              </a:spcBef>
              <a:buFont typeface="Raleway"/>
              <a:buChar char="●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B65F3F-E0E1-4280-AC20-A936A7760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000" y="3761657"/>
            <a:ext cx="1190400" cy="10776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71EC95-CD01-4291-ABD8-0A6EE4A67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000" y="1858983"/>
            <a:ext cx="1190400" cy="1077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9"/>
          <p:cNvSpPr txBox="1">
            <a:spLocks noGrp="1"/>
          </p:cNvSpPr>
          <p:nvPr>
            <p:ph type="title" idx="4"/>
          </p:nvPr>
        </p:nvSpPr>
        <p:spPr>
          <a:xfrm>
            <a:off x="960000" y="489884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OVERVIEW OF THE COMPANIES</a:t>
            </a:r>
            <a:endParaRPr dirty="0"/>
          </a:p>
        </p:txBody>
      </p:sp>
      <p:sp>
        <p:nvSpPr>
          <p:cNvPr id="908" name="Google Shape;908;p39"/>
          <p:cNvSpPr txBox="1">
            <a:spLocks noGrp="1"/>
          </p:cNvSpPr>
          <p:nvPr>
            <p:ph type="body" idx="1"/>
          </p:nvPr>
        </p:nvSpPr>
        <p:spPr>
          <a:xfrm>
            <a:off x="6523552" y="2780966"/>
            <a:ext cx="5342048" cy="24798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 algn="l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Launched: 2017 as part of Microsoft Office 365 suite.</a:t>
            </a:r>
          </a:p>
          <a:p>
            <a:pPr marL="380990" indent="-380990" algn="l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Focus: Integrated team collaboration platform, combining video, chat, file-sharing, and productivity tools.</a:t>
            </a:r>
          </a:p>
          <a:p>
            <a:pPr marL="380990" indent="-380990" algn="l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Target Market: Enterprises using Office 365, large organizations, and education sectors.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10" name="Google Shape;910;p39"/>
          <p:cNvSpPr txBox="1">
            <a:spLocks noGrp="1"/>
          </p:cNvSpPr>
          <p:nvPr>
            <p:ph type="title" idx="3"/>
          </p:nvPr>
        </p:nvSpPr>
        <p:spPr>
          <a:xfrm>
            <a:off x="1263175" y="1600484"/>
            <a:ext cx="2860400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Zoom</a:t>
            </a:r>
            <a:endParaRPr dirty="0"/>
          </a:p>
        </p:txBody>
      </p:sp>
      <p:sp>
        <p:nvSpPr>
          <p:cNvPr id="911" name="Google Shape;911;p39"/>
          <p:cNvSpPr txBox="1">
            <a:spLocks noGrp="1"/>
          </p:cNvSpPr>
          <p:nvPr>
            <p:ph type="title"/>
          </p:nvPr>
        </p:nvSpPr>
        <p:spPr>
          <a:xfrm>
            <a:off x="7633126" y="1597201"/>
            <a:ext cx="3295700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Microsoft Teams</a:t>
            </a:r>
            <a:endParaRPr dirty="0"/>
          </a:p>
        </p:txBody>
      </p:sp>
      <p:grpSp>
        <p:nvGrpSpPr>
          <p:cNvPr id="912" name="Google Shape;912;p39"/>
          <p:cNvGrpSpPr/>
          <p:nvPr/>
        </p:nvGrpSpPr>
        <p:grpSpPr>
          <a:xfrm>
            <a:off x="6032400" y="1453100"/>
            <a:ext cx="127200" cy="4155000"/>
            <a:chOff x="4524300" y="1013625"/>
            <a:chExt cx="95400" cy="3116250"/>
          </a:xfrm>
        </p:grpSpPr>
        <p:sp>
          <p:nvSpPr>
            <p:cNvPr id="913" name="Google Shape;913;p3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908;p39">
            <a:extLst>
              <a:ext uri="{FF2B5EF4-FFF2-40B4-BE49-F238E27FC236}">
                <a16:creationId xmlns:a16="http://schemas.microsoft.com/office/drawing/2014/main" id="{6972C94C-F6DF-43BD-9370-F67E846893A8}"/>
              </a:ext>
            </a:extLst>
          </p:cNvPr>
          <p:cNvSpPr txBox="1">
            <a:spLocks/>
          </p:cNvSpPr>
          <p:nvPr/>
        </p:nvSpPr>
        <p:spPr>
          <a:xfrm>
            <a:off x="409728" y="2838068"/>
            <a:ext cx="5342048" cy="247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80990" indent="-380990" algn="l" defTabSz="1219170">
              <a:buClr>
                <a:srgbClr val="CEF3F5"/>
              </a:buClr>
            </a:pPr>
            <a:r>
              <a:rPr lang="en-US" sz="1867" kern="0" dirty="0">
                <a:solidFill>
                  <a:srgbClr val="CEF3F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Founded: 2011 by Eric Yuan.</a:t>
            </a:r>
          </a:p>
          <a:p>
            <a:pPr marL="380990" indent="-380990" algn="l" defTabSz="1219170">
              <a:buClr>
                <a:srgbClr val="CEF3F5"/>
              </a:buClr>
            </a:pPr>
            <a:r>
              <a:rPr lang="en-US" sz="1867" kern="0" dirty="0">
                <a:solidFill>
                  <a:srgbClr val="CEF3F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Focus: Primarily a video-first communication platform.</a:t>
            </a:r>
          </a:p>
          <a:p>
            <a:pPr marL="380990" indent="-380990" algn="l" defTabSz="1219170">
              <a:buClr>
                <a:srgbClr val="CEF3F5"/>
              </a:buClr>
            </a:pPr>
            <a:r>
              <a:rPr lang="en-US" sz="1867" kern="0" dirty="0">
                <a:solidFill>
                  <a:srgbClr val="CEF3F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Target Market: Businesses of all sizes, educators, general consumers.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6"/>
          <p:cNvSpPr txBox="1">
            <a:spLocks noGrp="1"/>
          </p:cNvSpPr>
          <p:nvPr>
            <p:ph type="title"/>
          </p:nvPr>
        </p:nvSpPr>
        <p:spPr>
          <a:xfrm>
            <a:off x="892800" y="4416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CORE FEATURES COMPARISON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E17EA4-FC4A-49A4-B6B9-87EB7335E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00" y="2377430"/>
            <a:ext cx="3129600" cy="2813887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9435A66-78ED-4BAE-B06B-1A0BA68B5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567622"/>
              </p:ext>
            </p:extLst>
          </p:nvPr>
        </p:nvGraphicFramePr>
        <p:xfrm>
          <a:off x="365168" y="1454347"/>
          <a:ext cx="8313233" cy="4744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5467">
                  <a:extLst>
                    <a:ext uri="{9D8B030D-6E8A-4147-A177-3AD203B41FA5}">
                      <a16:colId xmlns:a16="http://schemas.microsoft.com/office/drawing/2014/main" val="2072448713"/>
                    </a:ext>
                  </a:extLst>
                </a:gridCol>
                <a:gridCol w="3042533">
                  <a:extLst>
                    <a:ext uri="{9D8B030D-6E8A-4147-A177-3AD203B41FA5}">
                      <a16:colId xmlns:a16="http://schemas.microsoft.com/office/drawing/2014/main" val="2246709793"/>
                    </a:ext>
                  </a:extLst>
                </a:gridCol>
                <a:gridCol w="2975233">
                  <a:extLst>
                    <a:ext uri="{9D8B030D-6E8A-4147-A177-3AD203B41FA5}">
                      <a16:colId xmlns:a16="http://schemas.microsoft.com/office/drawing/2014/main" val="199090456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Zoom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Microsoft Teams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362293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Video Quality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HD video up to 1080p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720p by default, customizable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462009243"/>
                  </a:ext>
                </a:extLst>
              </a:tr>
              <a:tr h="69439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User Capacity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Up to 1,000 participants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Up to 10,000 participants for webinars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051024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Breakout Rooms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Yes, fully supported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Limited, but supported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78149795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Screen Sharing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Yes, with multiple users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Yes, with collaboration tools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7756129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File Sharing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Basic, through chat and cloud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Deep integration with OneDrive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1621508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Security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End-to-end encryption, waiting rooms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Encryption with advanced enterprise security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173775617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Integration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Works with popular apps like Google Drive, Slack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Integrated with Office 365 apps (Word, Excel, SharePoint)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2212417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8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USER EXPERIENCE</a:t>
            </a:r>
            <a:endParaRPr dirty="0"/>
          </a:p>
        </p:txBody>
      </p:sp>
      <p:sp>
        <p:nvSpPr>
          <p:cNvPr id="886" name="Google Shape;886;p38"/>
          <p:cNvSpPr txBox="1">
            <a:spLocks noGrp="1"/>
          </p:cNvSpPr>
          <p:nvPr>
            <p:ph type="subTitle" idx="1"/>
          </p:nvPr>
        </p:nvSpPr>
        <p:spPr>
          <a:xfrm>
            <a:off x="1527775" y="2459557"/>
            <a:ext cx="30896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ZOOM</a:t>
            </a:r>
            <a:endParaRPr dirty="0"/>
          </a:p>
        </p:txBody>
      </p:sp>
      <p:sp>
        <p:nvSpPr>
          <p:cNvPr id="887" name="Google Shape;887;p38"/>
          <p:cNvSpPr txBox="1">
            <a:spLocks noGrp="1"/>
          </p:cNvSpPr>
          <p:nvPr>
            <p:ph type="subTitle" idx="2"/>
          </p:nvPr>
        </p:nvSpPr>
        <p:spPr>
          <a:xfrm>
            <a:off x="562612" y="3097723"/>
            <a:ext cx="5155553" cy="315187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Simple, intuitive interface, easy to use even for non-technical users.</a:t>
            </a:r>
          </a:p>
          <a:p>
            <a:pPr marL="380990" indent="-38099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Efficient for small to large-scale meetings, webinars, and conferences.</a:t>
            </a:r>
          </a:p>
          <a:p>
            <a:pPr marL="380990" indent="-38099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Offers specialized meeting tools like virtual backgrounds, noise suppression, and closed captions.</a:t>
            </a:r>
            <a:endParaRPr dirty="0"/>
          </a:p>
        </p:txBody>
      </p:sp>
      <p:sp>
        <p:nvSpPr>
          <p:cNvPr id="888" name="Google Shape;888;p38"/>
          <p:cNvSpPr txBox="1">
            <a:spLocks noGrp="1"/>
          </p:cNvSpPr>
          <p:nvPr>
            <p:ph type="subTitle" idx="3"/>
          </p:nvPr>
        </p:nvSpPr>
        <p:spPr>
          <a:xfrm>
            <a:off x="7538728" y="2429845"/>
            <a:ext cx="3089200" cy="51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MICROSOFT TEAMS</a:t>
            </a:r>
            <a:endParaRPr dirty="0"/>
          </a:p>
        </p:txBody>
      </p:sp>
      <p:sp>
        <p:nvSpPr>
          <p:cNvPr id="889" name="Google Shape;889;p38"/>
          <p:cNvSpPr txBox="1">
            <a:spLocks noGrp="1"/>
          </p:cNvSpPr>
          <p:nvPr>
            <p:ph type="subTitle" idx="4"/>
          </p:nvPr>
        </p:nvSpPr>
        <p:spPr>
          <a:xfrm>
            <a:off x="6683330" y="3097723"/>
            <a:ext cx="4799999" cy="267187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Comprehensive collaboration platform with chat, file sharing, and task management integrated.</a:t>
            </a:r>
          </a:p>
          <a:p>
            <a:pPr marL="380990" indent="-38099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Best suited for users who are already using Office 365 apps.</a:t>
            </a:r>
          </a:p>
          <a:p>
            <a:pPr marL="380990" indent="-38099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Some users report a steeper learning curve due to feature-rich interface.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93105-B581-4633-8694-C0716CFD9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913" y="1577392"/>
            <a:ext cx="785327" cy="76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54B7C5-AE3F-4E91-A016-C0924ADCE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616" y="1417307"/>
            <a:ext cx="942400" cy="1012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5" name="Google Shape;1445;p57"/>
          <p:cNvCxnSpPr>
            <a:cxnSpLocks/>
            <a:stCxn id="1446" idx="0"/>
          </p:cNvCxnSpPr>
          <p:nvPr/>
        </p:nvCxnSpPr>
        <p:spPr>
          <a:xfrm>
            <a:off x="6095935" y="1744561"/>
            <a:ext cx="0" cy="364374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8" name="Google Shape;1448;p57"/>
          <p:cNvSpPr txBox="1">
            <a:spLocks noGrp="1"/>
          </p:cNvSpPr>
          <p:nvPr>
            <p:ph type="title"/>
          </p:nvPr>
        </p:nvSpPr>
        <p:spPr>
          <a:xfrm>
            <a:off x="922388" y="397071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SECURITY &amp; PRIVACY</a:t>
            </a:r>
            <a:endParaRPr dirty="0"/>
          </a:p>
        </p:txBody>
      </p:sp>
      <p:sp>
        <p:nvSpPr>
          <p:cNvPr id="1449" name="Google Shape;1449;p57"/>
          <p:cNvSpPr txBox="1">
            <a:spLocks noGrp="1"/>
          </p:cNvSpPr>
          <p:nvPr>
            <p:ph type="subTitle" idx="4294967295"/>
          </p:nvPr>
        </p:nvSpPr>
        <p:spPr>
          <a:xfrm>
            <a:off x="6893953" y="1385710"/>
            <a:ext cx="4787587" cy="9359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Data protection with compliance for major standards like GDPR, HIPAA.</a:t>
            </a:r>
            <a:endParaRPr sz="2400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1" name="Google Shape;1451;p57"/>
          <p:cNvSpPr txBox="1">
            <a:spLocks noGrp="1"/>
          </p:cNvSpPr>
          <p:nvPr>
            <p:ph type="subTitle" idx="4294967295"/>
          </p:nvPr>
        </p:nvSpPr>
        <p:spPr>
          <a:xfrm>
            <a:off x="6886780" y="2889997"/>
            <a:ext cx="4307609" cy="9359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Offers multi-factor authentication, end-to-end encryption.</a:t>
            </a:r>
            <a:endParaRPr sz="2400" dirty="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3" name="Google Shape;1453;p57"/>
          <p:cNvSpPr txBox="1">
            <a:spLocks noGrp="1"/>
          </p:cNvSpPr>
          <p:nvPr>
            <p:ph type="subTitle" idx="4294967295"/>
          </p:nvPr>
        </p:nvSpPr>
        <p:spPr>
          <a:xfrm>
            <a:off x="6886779" y="4506841"/>
            <a:ext cx="4307620" cy="9359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rPr>
              <a:t>Built on Microsoft’s trusted security infrastructure.</a:t>
            </a:r>
            <a:endParaRPr sz="2400" dirty="0">
              <a:solidFill>
                <a:schemeClr val="accent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5" name="Google Shape;1455;p57"/>
          <p:cNvSpPr txBox="1">
            <a:spLocks noGrp="1"/>
          </p:cNvSpPr>
          <p:nvPr>
            <p:ph type="subTitle" idx="4294967295"/>
          </p:nvPr>
        </p:nvSpPr>
        <p:spPr>
          <a:xfrm>
            <a:off x="932035" y="2204944"/>
            <a:ext cx="4393847" cy="83736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Early concerns over “Zoom-bombing” led to upgrades in security.</a:t>
            </a:r>
            <a:endParaRPr sz="2400" dirty="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7" name="Google Shape;1457;p57"/>
          <p:cNvSpPr txBox="1">
            <a:spLocks noGrp="1"/>
          </p:cNvSpPr>
          <p:nvPr>
            <p:ph type="subTitle" idx="4294967295"/>
          </p:nvPr>
        </p:nvSpPr>
        <p:spPr>
          <a:xfrm>
            <a:off x="1440903" y="3737906"/>
            <a:ext cx="3884979" cy="90504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End-to-end encryption for paid users.</a:t>
            </a:r>
            <a:endParaRPr sz="2400" dirty="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6" name="Google Shape;1446;p57"/>
          <p:cNvSpPr/>
          <p:nvPr/>
        </p:nvSpPr>
        <p:spPr>
          <a:xfrm>
            <a:off x="5646335" y="1744560"/>
            <a:ext cx="899200" cy="286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59" name="Google Shape;1459;p57"/>
          <p:cNvSpPr/>
          <p:nvPr/>
        </p:nvSpPr>
        <p:spPr>
          <a:xfrm rot="10800000">
            <a:off x="5646395" y="3952791"/>
            <a:ext cx="899200" cy="2860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60" name="Google Shape;1460;p57"/>
          <p:cNvSpPr/>
          <p:nvPr/>
        </p:nvSpPr>
        <p:spPr>
          <a:xfrm>
            <a:off x="5646335" y="3216713"/>
            <a:ext cx="899200" cy="2860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61" name="Google Shape;1461;p57"/>
          <p:cNvSpPr/>
          <p:nvPr/>
        </p:nvSpPr>
        <p:spPr>
          <a:xfrm rot="10800000">
            <a:off x="5646395" y="2480636"/>
            <a:ext cx="899200" cy="286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47" name="Google Shape;1447;p57"/>
          <p:cNvSpPr/>
          <p:nvPr/>
        </p:nvSpPr>
        <p:spPr>
          <a:xfrm>
            <a:off x="5646335" y="4688868"/>
            <a:ext cx="899200" cy="2860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462" name="Google Shape;1462;p57"/>
          <p:cNvCxnSpPr>
            <a:stCxn id="1446" idx="3"/>
          </p:cNvCxnSpPr>
          <p:nvPr/>
        </p:nvCxnSpPr>
        <p:spPr>
          <a:xfrm>
            <a:off x="6545535" y="1887560"/>
            <a:ext cx="236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3" name="Google Shape;1463;p57"/>
          <p:cNvCxnSpPr/>
          <p:nvPr/>
        </p:nvCxnSpPr>
        <p:spPr>
          <a:xfrm>
            <a:off x="6545595" y="3359693"/>
            <a:ext cx="236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4" name="Google Shape;1464;p57"/>
          <p:cNvCxnSpPr/>
          <p:nvPr/>
        </p:nvCxnSpPr>
        <p:spPr>
          <a:xfrm>
            <a:off x="6545595" y="4831860"/>
            <a:ext cx="2364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5" name="Google Shape;1465;p57"/>
          <p:cNvCxnSpPr/>
          <p:nvPr/>
        </p:nvCxnSpPr>
        <p:spPr>
          <a:xfrm rot="10800000">
            <a:off x="5409935" y="4095760"/>
            <a:ext cx="2364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66" name="Google Shape;1466;p57"/>
          <p:cNvCxnSpPr/>
          <p:nvPr/>
        </p:nvCxnSpPr>
        <p:spPr>
          <a:xfrm rot="10800000">
            <a:off x="5409935" y="2623627"/>
            <a:ext cx="236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5" name="Google Shape;1459;p57">
            <a:extLst>
              <a:ext uri="{FF2B5EF4-FFF2-40B4-BE49-F238E27FC236}">
                <a16:creationId xmlns:a16="http://schemas.microsoft.com/office/drawing/2014/main" id="{934373E9-80BB-49F0-AB01-DF3BA7766164}"/>
              </a:ext>
            </a:extLst>
          </p:cNvPr>
          <p:cNvSpPr/>
          <p:nvPr/>
        </p:nvSpPr>
        <p:spPr>
          <a:xfrm rot="10800000">
            <a:off x="5646335" y="5378807"/>
            <a:ext cx="899200" cy="28600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  <a:lumOff val="25000"/>
            </a:scheme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7" name="Google Shape;1465;p57">
            <a:extLst>
              <a:ext uri="{FF2B5EF4-FFF2-40B4-BE49-F238E27FC236}">
                <a16:creationId xmlns:a16="http://schemas.microsoft.com/office/drawing/2014/main" id="{027409F4-7906-4FA8-9A09-245DFC5BDFD0}"/>
              </a:ext>
            </a:extLst>
          </p:cNvPr>
          <p:cNvCxnSpPr/>
          <p:nvPr/>
        </p:nvCxnSpPr>
        <p:spPr>
          <a:xfrm rot="10800000">
            <a:off x="5409935" y="5521807"/>
            <a:ext cx="2364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8" name="Google Shape;1457;p57">
            <a:extLst>
              <a:ext uri="{FF2B5EF4-FFF2-40B4-BE49-F238E27FC236}">
                <a16:creationId xmlns:a16="http://schemas.microsoft.com/office/drawing/2014/main" id="{78155694-1F07-4095-A727-6C589158C42A}"/>
              </a:ext>
            </a:extLst>
          </p:cNvPr>
          <p:cNvSpPr txBox="1">
            <a:spLocks/>
          </p:cNvSpPr>
          <p:nvPr/>
        </p:nvSpPr>
        <p:spPr>
          <a:xfrm>
            <a:off x="1412939" y="5100490"/>
            <a:ext cx="3884979" cy="842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 defTabSz="1219170">
              <a:buClr>
                <a:srgbClr val="CEF3F5"/>
              </a:buClr>
              <a:buNone/>
            </a:pPr>
            <a:r>
              <a:rPr lang="en-US" sz="2400" kern="0" dirty="0">
                <a:solidFill>
                  <a:srgbClr val="0A1D42">
                    <a:lumMod val="50000"/>
                    <a:lumOff val="50000"/>
                  </a:srgbClr>
                </a:solidFill>
                <a:latin typeface="Oswald"/>
                <a:ea typeface="Oswald"/>
                <a:cs typeface="Oswald"/>
                <a:sym typeface="Oswald"/>
              </a:rPr>
              <a:t>Password-protected meetings and waiting room features.</a:t>
            </a:r>
          </a:p>
        </p:txBody>
      </p:sp>
      <p:sp>
        <p:nvSpPr>
          <p:cNvPr id="29" name="Google Shape;805;p35">
            <a:extLst>
              <a:ext uri="{FF2B5EF4-FFF2-40B4-BE49-F238E27FC236}">
                <a16:creationId xmlns:a16="http://schemas.microsoft.com/office/drawing/2014/main" id="{11BF1300-9563-4E67-98FB-199005F27B92}"/>
              </a:ext>
            </a:extLst>
          </p:cNvPr>
          <p:cNvSpPr txBox="1">
            <a:spLocks/>
          </p:cNvSpPr>
          <p:nvPr/>
        </p:nvSpPr>
        <p:spPr>
          <a:xfrm>
            <a:off x="2844782" y="1416256"/>
            <a:ext cx="1021292" cy="6566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35C2DF">
                    <a:lumMod val="20000"/>
                    <a:lumOff val="8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ZOOM</a:t>
            </a:r>
          </a:p>
        </p:txBody>
      </p:sp>
      <p:sp>
        <p:nvSpPr>
          <p:cNvPr id="30" name="Google Shape;805;p35">
            <a:extLst>
              <a:ext uri="{FF2B5EF4-FFF2-40B4-BE49-F238E27FC236}">
                <a16:creationId xmlns:a16="http://schemas.microsoft.com/office/drawing/2014/main" id="{2B35FFDB-64DA-4CD7-9C6E-76CDD19FB8DB}"/>
              </a:ext>
            </a:extLst>
          </p:cNvPr>
          <p:cNvSpPr txBox="1">
            <a:spLocks/>
          </p:cNvSpPr>
          <p:nvPr/>
        </p:nvSpPr>
        <p:spPr>
          <a:xfrm>
            <a:off x="7609540" y="654512"/>
            <a:ext cx="3496000" cy="6566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35C2DF">
                    <a:lumMod val="20000"/>
                    <a:lumOff val="8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MICROSOFT TEAMS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4"/>
          <p:cNvSpPr txBox="1">
            <a:spLocks noGrp="1"/>
          </p:cNvSpPr>
          <p:nvPr>
            <p:ph type="subTitle" idx="1"/>
          </p:nvPr>
        </p:nvSpPr>
        <p:spPr>
          <a:xfrm>
            <a:off x="796923" y="1861497"/>
            <a:ext cx="4231684" cy="838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Rapid growth during the COVID-19 pandemic.</a:t>
            </a:r>
            <a:endParaRPr dirty="0"/>
          </a:p>
        </p:txBody>
      </p:sp>
      <p:sp>
        <p:nvSpPr>
          <p:cNvPr id="781" name="Google Shape;781;p34"/>
          <p:cNvSpPr txBox="1">
            <a:spLocks noGrp="1"/>
          </p:cNvSpPr>
          <p:nvPr>
            <p:ph type="title"/>
          </p:nvPr>
        </p:nvSpPr>
        <p:spPr>
          <a:xfrm>
            <a:off x="896400" y="2880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MARKET ADOPTION &amp; GROWTH</a:t>
            </a:r>
            <a:endParaRPr dirty="0"/>
          </a:p>
        </p:txBody>
      </p:sp>
      <p:sp>
        <p:nvSpPr>
          <p:cNvPr id="783" name="Google Shape;783;p34"/>
          <p:cNvSpPr txBox="1">
            <a:spLocks noGrp="1"/>
          </p:cNvSpPr>
          <p:nvPr>
            <p:ph type="subTitle" idx="3"/>
          </p:nvPr>
        </p:nvSpPr>
        <p:spPr>
          <a:xfrm>
            <a:off x="529507" y="3050498"/>
            <a:ext cx="4612917" cy="117230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Popular with educational institutions, small to medium businesses, and event organizers.</a:t>
            </a:r>
            <a:endParaRPr dirty="0"/>
          </a:p>
        </p:txBody>
      </p:sp>
      <p:sp>
        <p:nvSpPr>
          <p:cNvPr id="785" name="Google Shape;785;p34"/>
          <p:cNvSpPr txBox="1">
            <a:spLocks noGrp="1"/>
          </p:cNvSpPr>
          <p:nvPr>
            <p:ph type="subTitle" idx="5"/>
          </p:nvPr>
        </p:nvSpPr>
        <p:spPr>
          <a:xfrm>
            <a:off x="7134761" y="2409688"/>
            <a:ext cx="4337116" cy="91813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Steady growth due to deep integration with Office 365.</a:t>
            </a:r>
            <a:endParaRPr dirty="0"/>
          </a:p>
        </p:txBody>
      </p:sp>
      <p:sp>
        <p:nvSpPr>
          <p:cNvPr id="787" name="Google Shape;787;p34"/>
          <p:cNvSpPr txBox="1">
            <a:spLocks noGrp="1"/>
          </p:cNvSpPr>
          <p:nvPr>
            <p:ph type="subTitle" idx="7"/>
          </p:nvPr>
        </p:nvSpPr>
        <p:spPr>
          <a:xfrm>
            <a:off x="720125" y="4550901"/>
            <a:ext cx="4385284" cy="9181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Market Cap (2023): Approx. $22.9 billion.</a:t>
            </a:r>
            <a:endParaRPr dirty="0"/>
          </a:p>
        </p:txBody>
      </p:sp>
      <p:sp>
        <p:nvSpPr>
          <p:cNvPr id="789" name="Google Shape;789;p34"/>
          <p:cNvSpPr txBox="1">
            <a:spLocks noGrp="1"/>
          </p:cNvSpPr>
          <p:nvPr>
            <p:ph type="subTitle" idx="9"/>
          </p:nvPr>
        </p:nvSpPr>
        <p:spPr>
          <a:xfrm>
            <a:off x="7057725" y="3772239"/>
            <a:ext cx="4970951" cy="91813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Widely adopted by enterprises, large organizations, and educational institutions.</a:t>
            </a:r>
            <a:endParaRPr dirty="0"/>
          </a:p>
        </p:txBody>
      </p:sp>
      <p:sp>
        <p:nvSpPr>
          <p:cNvPr id="791" name="Google Shape;791;p34"/>
          <p:cNvSpPr txBox="1">
            <a:spLocks noGrp="1"/>
          </p:cNvSpPr>
          <p:nvPr>
            <p:ph type="subTitle" idx="14"/>
          </p:nvPr>
        </p:nvSpPr>
        <p:spPr>
          <a:xfrm>
            <a:off x="7278883" y="5009969"/>
            <a:ext cx="4337116" cy="91812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Over 280 million daily active users in 2023.</a:t>
            </a:r>
            <a:endParaRPr dirty="0"/>
          </a:p>
        </p:txBody>
      </p:sp>
      <p:grpSp>
        <p:nvGrpSpPr>
          <p:cNvPr id="793" name="Google Shape;793;p34"/>
          <p:cNvGrpSpPr/>
          <p:nvPr/>
        </p:nvGrpSpPr>
        <p:grpSpPr>
          <a:xfrm>
            <a:off x="6032400" y="1859500"/>
            <a:ext cx="127200" cy="4155000"/>
            <a:chOff x="4524300" y="1013625"/>
            <a:chExt cx="95400" cy="3116250"/>
          </a:xfrm>
        </p:grpSpPr>
        <p:sp>
          <p:nvSpPr>
            <p:cNvPr id="794" name="Google Shape;794;p3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805;p35">
            <a:extLst>
              <a:ext uri="{FF2B5EF4-FFF2-40B4-BE49-F238E27FC236}">
                <a16:creationId xmlns:a16="http://schemas.microsoft.com/office/drawing/2014/main" id="{2C1B7C80-4738-4931-9AAE-FB2E9E849485}"/>
              </a:ext>
            </a:extLst>
          </p:cNvPr>
          <p:cNvSpPr txBox="1">
            <a:spLocks/>
          </p:cNvSpPr>
          <p:nvPr/>
        </p:nvSpPr>
        <p:spPr>
          <a:xfrm>
            <a:off x="2325319" y="1190260"/>
            <a:ext cx="1021292" cy="6566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35C2DF">
                    <a:lumMod val="20000"/>
                    <a:lumOff val="8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ZOOM</a:t>
            </a:r>
          </a:p>
        </p:txBody>
      </p:sp>
      <p:sp>
        <p:nvSpPr>
          <p:cNvPr id="35" name="Google Shape;805;p35">
            <a:extLst>
              <a:ext uri="{FF2B5EF4-FFF2-40B4-BE49-F238E27FC236}">
                <a16:creationId xmlns:a16="http://schemas.microsoft.com/office/drawing/2014/main" id="{3B3246C9-ECB6-40E8-A6B1-43998592060A}"/>
              </a:ext>
            </a:extLst>
          </p:cNvPr>
          <p:cNvSpPr txBox="1">
            <a:spLocks/>
          </p:cNvSpPr>
          <p:nvPr/>
        </p:nvSpPr>
        <p:spPr>
          <a:xfrm>
            <a:off x="7672400" y="1202565"/>
            <a:ext cx="3496000" cy="6566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en-US" sz="1867" b="1" kern="0" dirty="0">
                <a:solidFill>
                  <a:srgbClr val="35C2DF">
                    <a:lumMod val="20000"/>
                    <a:lumOff val="8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MICROSOFT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1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PRICING MODELS</a:t>
            </a:r>
            <a:endParaRPr dirty="0"/>
          </a:p>
        </p:txBody>
      </p:sp>
      <p:graphicFrame>
        <p:nvGraphicFramePr>
          <p:cNvPr id="1280" name="Google Shape;1280;p51"/>
          <p:cNvGraphicFramePr/>
          <p:nvPr>
            <p:extLst>
              <p:ext uri="{D42A27DB-BD31-4B8C-83A1-F6EECF244321}">
                <p14:modId xmlns:p14="http://schemas.microsoft.com/office/powerpoint/2010/main" val="997974195"/>
              </p:ext>
            </p:extLst>
          </p:nvPr>
        </p:nvGraphicFramePr>
        <p:xfrm>
          <a:off x="2606400" y="1483600"/>
          <a:ext cx="6979200" cy="4815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7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9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lt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Zoom Pricing</a:t>
                      </a:r>
                      <a:endParaRPr sz="2400" dirty="0">
                        <a:solidFill>
                          <a:schemeClr val="lt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lt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Microsoft Teams Pricing</a:t>
                      </a:r>
                      <a:endParaRPr sz="2400" dirty="0">
                        <a:solidFill>
                          <a:schemeClr val="lt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58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 Plan	</a:t>
                      </a:r>
                      <a:endParaRPr sz="25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 plan (limited features)</a:t>
                      </a:r>
                      <a:endParaRPr sz="25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Pro: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$14.99/month/host	</a:t>
                      </a:r>
                      <a:endParaRPr sz="2700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EF8">
                        <a:alpha val="564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Included in Office 365 subscription</a:t>
                      </a:r>
                      <a:endParaRPr sz="2700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FFF">
                        <a:alpha val="547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Business: $19.99/month/host</a:t>
                      </a:r>
                      <a:endParaRPr sz="2700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EF8">
                        <a:alpha val="564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Standalone licenses start at $5/user/month</a:t>
                      </a:r>
                      <a:endParaRPr sz="2700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FFF">
                        <a:alpha val="5475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3713"/>
                  </a:ext>
                </a:extLst>
              </a:tr>
              <a:tr h="105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Enterprise: Custom pricing	</a:t>
                      </a:r>
                      <a:endParaRPr sz="2700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Enterprise-level pricing available</a:t>
                      </a:r>
                      <a:endParaRPr sz="2700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3766"/>
                  </a:ext>
                </a:extLst>
              </a:tr>
            </a:tbl>
          </a:graphicData>
        </a:graphic>
      </p:graphicFrame>
      <p:grpSp>
        <p:nvGrpSpPr>
          <p:cNvPr id="1281" name="Google Shape;1281;p51"/>
          <p:cNvGrpSpPr/>
          <p:nvPr/>
        </p:nvGrpSpPr>
        <p:grpSpPr>
          <a:xfrm>
            <a:off x="13408157" y="1875891"/>
            <a:ext cx="536801" cy="541088"/>
            <a:chOff x="2588518" y="1521218"/>
            <a:chExt cx="402601" cy="405816"/>
          </a:xfrm>
        </p:grpSpPr>
        <p:sp>
          <p:nvSpPr>
            <p:cNvPr id="1282" name="Google Shape;1282;p51"/>
            <p:cNvSpPr/>
            <p:nvPr/>
          </p:nvSpPr>
          <p:spPr>
            <a:xfrm>
              <a:off x="2611102" y="1655730"/>
              <a:ext cx="380017" cy="271304"/>
            </a:xfrm>
            <a:custGeom>
              <a:avLst/>
              <a:gdLst/>
              <a:ahLst/>
              <a:cxnLst/>
              <a:rect l="l" t="t" r="r" b="b"/>
              <a:pathLst>
                <a:path w="11123" h="7941" extrusionOk="0">
                  <a:moveTo>
                    <a:pt x="10545" y="1"/>
                  </a:moveTo>
                  <a:cubicBezTo>
                    <a:pt x="10499" y="1"/>
                    <a:pt x="10449" y="11"/>
                    <a:pt x="10397" y="33"/>
                  </a:cubicBezTo>
                  <a:cubicBezTo>
                    <a:pt x="10208" y="64"/>
                    <a:pt x="10145" y="253"/>
                    <a:pt x="10177" y="474"/>
                  </a:cubicBezTo>
                  <a:cubicBezTo>
                    <a:pt x="10334" y="1009"/>
                    <a:pt x="10460" y="1514"/>
                    <a:pt x="10460" y="1986"/>
                  </a:cubicBezTo>
                  <a:cubicBezTo>
                    <a:pt x="10460" y="4885"/>
                    <a:pt x="8129" y="7247"/>
                    <a:pt x="5199" y="7247"/>
                  </a:cubicBezTo>
                  <a:cubicBezTo>
                    <a:pt x="3561" y="7247"/>
                    <a:pt x="2017" y="6460"/>
                    <a:pt x="1040" y="5137"/>
                  </a:cubicBezTo>
                  <a:lnTo>
                    <a:pt x="1734" y="5137"/>
                  </a:lnTo>
                  <a:cubicBezTo>
                    <a:pt x="1954" y="5137"/>
                    <a:pt x="2112" y="4979"/>
                    <a:pt x="2112" y="4790"/>
                  </a:cubicBezTo>
                  <a:cubicBezTo>
                    <a:pt x="2112" y="4601"/>
                    <a:pt x="1954" y="4444"/>
                    <a:pt x="1734" y="4444"/>
                  </a:cubicBezTo>
                  <a:lnTo>
                    <a:pt x="379" y="4444"/>
                  </a:lnTo>
                  <a:cubicBezTo>
                    <a:pt x="158" y="4444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79" y="6523"/>
                  </a:cubicBezTo>
                  <a:cubicBezTo>
                    <a:pt x="568" y="6523"/>
                    <a:pt x="725" y="6365"/>
                    <a:pt x="725" y="6176"/>
                  </a:cubicBezTo>
                  <a:lnTo>
                    <a:pt x="725" y="5830"/>
                  </a:lnTo>
                  <a:cubicBezTo>
                    <a:pt x="1860" y="7184"/>
                    <a:pt x="3529" y="7941"/>
                    <a:pt x="5199" y="7941"/>
                  </a:cubicBezTo>
                  <a:cubicBezTo>
                    <a:pt x="8476" y="7941"/>
                    <a:pt x="11122" y="5294"/>
                    <a:pt x="11122" y="2049"/>
                  </a:cubicBezTo>
                  <a:cubicBezTo>
                    <a:pt x="11122" y="1482"/>
                    <a:pt x="11028" y="883"/>
                    <a:pt x="10839" y="253"/>
                  </a:cubicBezTo>
                  <a:cubicBezTo>
                    <a:pt x="10814" y="109"/>
                    <a:pt x="10698" y="1"/>
                    <a:pt x="10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1"/>
            <p:cNvSpPr/>
            <p:nvPr/>
          </p:nvSpPr>
          <p:spPr>
            <a:xfrm>
              <a:off x="2588518" y="1521218"/>
              <a:ext cx="379983" cy="271509"/>
            </a:xfrm>
            <a:custGeom>
              <a:avLst/>
              <a:gdLst/>
              <a:ahLst/>
              <a:cxnLst/>
              <a:rect l="l" t="t" r="r" b="b"/>
              <a:pathLst>
                <a:path w="11122" h="7947" extrusionOk="0">
                  <a:moveTo>
                    <a:pt x="5892" y="0"/>
                  </a:moveTo>
                  <a:cubicBezTo>
                    <a:pt x="2647" y="0"/>
                    <a:pt x="0" y="2615"/>
                    <a:pt x="0" y="5892"/>
                  </a:cubicBezTo>
                  <a:cubicBezTo>
                    <a:pt x="0" y="6459"/>
                    <a:pt x="63" y="7026"/>
                    <a:pt x="284" y="7656"/>
                  </a:cubicBezTo>
                  <a:cubicBezTo>
                    <a:pt x="310" y="7869"/>
                    <a:pt x="450" y="7947"/>
                    <a:pt x="606" y="7947"/>
                  </a:cubicBezTo>
                  <a:cubicBezTo>
                    <a:pt x="635" y="7947"/>
                    <a:pt x="664" y="7944"/>
                    <a:pt x="693" y="7939"/>
                  </a:cubicBezTo>
                  <a:cubicBezTo>
                    <a:pt x="914" y="7908"/>
                    <a:pt x="977" y="7719"/>
                    <a:pt x="945" y="7498"/>
                  </a:cubicBezTo>
                  <a:cubicBezTo>
                    <a:pt x="788" y="6963"/>
                    <a:pt x="662" y="6459"/>
                    <a:pt x="662" y="5923"/>
                  </a:cubicBezTo>
                  <a:cubicBezTo>
                    <a:pt x="662" y="3056"/>
                    <a:pt x="2993" y="693"/>
                    <a:pt x="5923" y="693"/>
                  </a:cubicBezTo>
                  <a:cubicBezTo>
                    <a:pt x="7561" y="693"/>
                    <a:pt x="9105" y="1481"/>
                    <a:pt x="10082" y="2773"/>
                  </a:cubicBezTo>
                  <a:lnTo>
                    <a:pt x="9389" y="2773"/>
                  </a:lnTo>
                  <a:cubicBezTo>
                    <a:pt x="9168" y="2773"/>
                    <a:pt x="9011" y="2930"/>
                    <a:pt x="9011" y="3151"/>
                  </a:cubicBezTo>
                  <a:cubicBezTo>
                    <a:pt x="9011" y="3340"/>
                    <a:pt x="9168" y="3497"/>
                    <a:pt x="9389" y="3497"/>
                  </a:cubicBezTo>
                  <a:lnTo>
                    <a:pt x="10743" y="3497"/>
                  </a:lnTo>
                  <a:cubicBezTo>
                    <a:pt x="10964" y="3497"/>
                    <a:pt x="11121" y="3340"/>
                    <a:pt x="11121" y="3151"/>
                  </a:cubicBezTo>
                  <a:lnTo>
                    <a:pt x="11121" y="1765"/>
                  </a:lnTo>
                  <a:cubicBezTo>
                    <a:pt x="11121" y="1575"/>
                    <a:pt x="10964" y="1418"/>
                    <a:pt x="10743" y="1418"/>
                  </a:cubicBezTo>
                  <a:cubicBezTo>
                    <a:pt x="10554" y="1418"/>
                    <a:pt x="10397" y="1575"/>
                    <a:pt x="10397" y="1765"/>
                  </a:cubicBezTo>
                  <a:lnTo>
                    <a:pt x="10397" y="2111"/>
                  </a:lnTo>
                  <a:cubicBezTo>
                    <a:pt x="9263" y="725"/>
                    <a:pt x="7593" y="0"/>
                    <a:pt x="5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1"/>
            <p:cNvSpPr/>
            <p:nvPr/>
          </p:nvSpPr>
          <p:spPr>
            <a:xfrm>
              <a:off x="2658491" y="1593343"/>
              <a:ext cx="261567" cy="261567"/>
            </a:xfrm>
            <a:custGeom>
              <a:avLst/>
              <a:gdLst/>
              <a:ahLst/>
              <a:cxnLst/>
              <a:rect l="l" t="t" r="r" b="b"/>
              <a:pathLst>
                <a:path w="7656" h="7656" extrusionOk="0">
                  <a:moveTo>
                    <a:pt x="4190" y="693"/>
                  </a:moveTo>
                  <a:cubicBezTo>
                    <a:pt x="4757" y="788"/>
                    <a:pt x="5324" y="1008"/>
                    <a:pt x="5797" y="1386"/>
                  </a:cubicBezTo>
                  <a:lnTo>
                    <a:pt x="5545" y="1607"/>
                  </a:lnTo>
                  <a:cubicBezTo>
                    <a:pt x="5450" y="1733"/>
                    <a:pt x="5450" y="1953"/>
                    <a:pt x="5545" y="2079"/>
                  </a:cubicBezTo>
                  <a:cubicBezTo>
                    <a:pt x="5608" y="2142"/>
                    <a:pt x="5702" y="2174"/>
                    <a:pt x="5793" y="2174"/>
                  </a:cubicBezTo>
                  <a:cubicBezTo>
                    <a:pt x="5884" y="2174"/>
                    <a:pt x="5970" y="2142"/>
                    <a:pt x="6017" y="2079"/>
                  </a:cubicBezTo>
                  <a:lnTo>
                    <a:pt x="6270" y="1859"/>
                  </a:lnTo>
                  <a:cubicBezTo>
                    <a:pt x="6616" y="2268"/>
                    <a:pt x="6868" y="2835"/>
                    <a:pt x="6931" y="3466"/>
                  </a:cubicBezTo>
                  <a:lnTo>
                    <a:pt x="6616" y="3466"/>
                  </a:lnTo>
                  <a:cubicBezTo>
                    <a:pt x="6427" y="3466"/>
                    <a:pt x="6270" y="3623"/>
                    <a:pt x="6270" y="3812"/>
                  </a:cubicBezTo>
                  <a:cubicBezTo>
                    <a:pt x="6270" y="4001"/>
                    <a:pt x="6427" y="4159"/>
                    <a:pt x="6616" y="4159"/>
                  </a:cubicBezTo>
                  <a:lnTo>
                    <a:pt x="6931" y="4159"/>
                  </a:lnTo>
                  <a:cubicBezTo>
                    <a:pt x="6868" y="4757"/>
                    <a:pt x="6616" y="5324"/>
                    <a:pt x="6270" y="5797"/>
                  </a:cubicBezTo>
                  <a:lnTo>
                    <a:pt x="6017" y="5545"/>
                  </a:lnTo>
                  <a:cubicBezTo>
                    <a:pt x="5970" y="5482"/>
                    <a:pt x="5884" y="5450"/>
                    <a:pt x="5793" y="5450"/>
                  </a:cubicBezTo>
                  <a:cubicBezTo>
                    <a:pt x="5702" y="5450"/>
                    <a:pt x="5608" y="5482"/>
                    <a:pt x="5545" y="5545"/>
                  </a:cubicBezTo>
                  <a:cubicBezTo>
                    <a:pt x="5450" y="5671"/>
                    <a:pt x="5450" y="5923"/>
                    <a:pt x="5545" y="6017"/>
                  </a:cubicBezTo>
                  <a:lnTo>
                    <a:pt x="5797" y="6270"/>
                  </a:lnTo>
                  <a:cubicBezTo>
                    <a:pt x="5356" y="6616"/>
                    <a:pt x="4820" y="6837"/>
                    <a:pt x="4190" y="6931"/>
                  </a:cubicBezTo>
                  <a:lnTo>
                    <a:pt x="4190" y="6616"/>
                  </a:lnTo>
                  <a:cubicBezTo>
                    <a:pt x="4190" y="6427"/>
                    <a:pt x="4033" y="6270"/>
                    <a:pt x="3812" y="6270"/>
                  </a:cubicBezTo>
                  <a:cubicBezTo>
                    <a:pt x="3623" y="6270"/>
                    <a:pt x="3466" y="6427"/>
                    <a:pt x="3466" y="6616"/>
                  </a:cubicBezTo>
                  <a:lnTo>
                    <a:pt x="3466" y="6931"/>
                  </a:lnTo>
                  <a:cubicBezTo>
                    <a:pt x="2867" y="6837"/>
                    <a:pt x="2331" y="6616"/>
                    <a:pt x="1859" y="6270"/>
                  </a:cubicBezTo>
                  <a:lnTo>
                    <a:pt x="2079" y="6017"/>
                  </a:lnTo>
                  <a:cubicBezTo>
                    <a:pt x="2205" y="5891"/>
                    <a:pt x="2205" y="5671"/>
                    <a:pt x="2079" y="5545"/>
                  </a:cubicBezTo>
                  <a:cubicBezTo>
                    <a:pt x="2032" y="5482"/>
                    <a:pt x="1945" y="5450"/>
                    <a:pt x="1855" y="5450"/>
                  </a:cubicBezTo>
                  <a:cubicBezTo>
                    <a:pt x="1764" y="5450"/>
                    <a:pt x="1670" y="5482"/>
                    <a:pt x="1607" y="5545"/>
                  </a:cubicBezTo>
                  <a:lnTo>
                    <a:pt x="1386" y="5797"/>
                  </a:lnTo>
                  <a:cubicBezTo>
                    <a:pt x="1040" y="5356"/>
                    <a:pt x="788" y="4789"/>
                    <a:pt x="725" y="4159"/>
                  </a:cubicBezTo>
                  <a:lnTo>
                    <a:pt x="1040" y="4159"/>
                  </a:lnTo>
                  <a:cubicBezTo>
                    <a:pt x="1229" y="4159"/>
                    <a:pt x="1386" y="4001"/>
                    <a:pt x="1386" y="3812"/>
                  </a:cubicBezTo>
                  <a:cubicBezTo>
                    <a:pt x="1386" y="3623"/>
                    <a:pt x="1229" y="3466"/>
                    <a:pt x="1040" y="3466"/>
                  </a:cubicBezTo>
                  <a:lnTo>
                    <a:pt x="725" y="3466"/>
                  </a:lnTo>
                  <a:cubicBezTo>
                    <a:pt x="788" y="2867"/>
                    <a:pt x="1040" y="2331"/>
                    <a:pt x="1386" y="1859"/>
                  </a:cubicBezTo>
                  <a:lnTo>
                    <a:pt x="1607" y="2079"/>
                  </a:lnTo>
                  <a:cubicBezTo>
                    <a:pt x="1701" y="2174"/>
                    <a:pt x="1764" y="2205"/>
                    <a:pt x="1859" y="2205"/>
                  </a:cubicBezTo>
                  <a:cubicBezTo>
                    <a:pt x="1922" y="2205"/>
                    <a:pt x="2048" y="2174"/>
                    <a:pt x="2079" y="2079"/>
                  </a:cubicBezTo>
                  <a:cubicBezTo>
                    <a:pt x="2205" y="1953"/>
                    <a:pt x="2205" y="1733"/>
                    <a:pt x="2079" y="1607"/>
                  </a:cubicBezTo>
                  <a:lnTo>
                    <a:pt x="1859" y="1386"/>
                  </a:lnTo>
                  <a:cubicBezTo>
                    <a:pt x="2300" y="1008"/>
                    <a:pt x="2835" y="788"/>
                    <a:pt x="3466" y="693"/>
                  </a:cubicBezTo>
                  <a:lnTo>
                    <a:pt x="3466" y="1008"/>
                  </a:lnTo>
                  <a:cubicBezTo>
                    <a:pt x="3466" y="1229"/>
                    <a:pt x="3623" y="1386"/>
                    <a:pt x="3812" y="1386"/>
                  </a:cubicBezTo>
                  <a:cubicBezTo>
                    <a:pt x="4033" y="1386"/>
                    <a:pt x="4190" y="1229"/>
                    <a:pt x="4190" y="1008"/>
                  </a:cubicBezTo>
                  <a:lnTo>
                    <a:pt x="4190" y="693"/>
                  </a:lnTo>
                  <a:close/>
                  <a:moveTo>
                    <a:pt x="3812" y="0"/>
                  </a:moveTo>
                  <a:cubicBezTo>
                    <a:pt x="1733" y="0"/>
                    <a:pt x="0" y="1701"/>
                    <a:pt x="0" y="3812"/>
                  </a:cubicBezTo>
                  <a:cubicBezTo>
                    <a:pt x="0" y="5923"/>
                    <a:pt x="1701" y="7656"/>
                    <a:pt x="3812" y="7656"/>
                  </a:cubicBezTo>
                  <a:cubicBezTo>
                    <a:pt x="5923" y="7656"/>
                    <a:pt x="7656" y="5954"/>
                    <a:pt x="7656" y="3812"/>
                  </a:cubicBezTo>
                  <a:cubicBezTo>
                    <a:pt x="7656" y="1733"/>
                    <a:pt x="5954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1"/>
            <p:cNvSpPr/>
            <p:nvPr/>
          </p:nvSpPr>
          <p:spPr>
            <a:xfrm>
              <a:off x="2776876" y="1664374"/>
              <a:ext cx="48480" cy="72156"/>
            </a:xfrm>
            <a:custGeom>
              <a:avLst/>
              <a:gdLst/>
              <a:ahLst/>
              <a:cxnLst/>
              <a:rect l="l" t="t" r="r" b="b"/>
              <a:pathLst>
                <a:path w="1419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47" y="2111"/>
                  </a:cubicBezTo>
                  <a:lnTo>
                    <a:pt x="1072" y="2111"/>
                  </a:lnTo>
                  <a:cubicBezTo>
                    <a:pt x="1261" y="2111"/>
                    <a:pt x="1418" y="1954"/>
                    <a:pt x="1418" y="1733"/>
                  </a:cubicBezTo>
                  <a:cubicBezTo>
                    <a:pt x="1418" y="1544"/>
                    <a:pt x="1261" y="1387"/>
                    <a:pt x="1072" y="1387"/>
                  </a:cubicBezTo>
                  <a:lnTo>
                    <a:pt x="725" y="1387"/>
                  </a:lnTo>
                  <a:lnTo>
                    <a:pt x="725" y="378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86" name="Google Shape;1286;p51"/>
          <p:cNvGrpSpPr/>
          <p:nvPr/>
        </p:nvGrpSpPr>
        <p:grpSpPr>
          <a:xfrm>
            <a:off x="13950108" y="3018177"/>
            <a:ext cx="529985" cy="529987"/>
            <a:chOff x="-49786250" y="2316650"/>
            <a:chExt cx="300900" cy="299450"/>
          </a:xfrm>
        </p:grpSpPr>
        <p:sp>
          <p:nvSpPr>
            <p:cNvPr id="1287" name="Google Shape;1287;p51"/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1"/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1"/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1"/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1"/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1"/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1"/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7"/>
          <p:cNvSpPr txBox="1">
            <a:spLocks noGrp="1"/>
          </p:cNvSpPr>
          <p:nvPr>
            <p:ph type="title"/>
          </p:nvPr>
        </p:nvSpPr>
        <p:spPr>
          <a:xfrm>
            <a:off x="6889772" y="2665400"/>
            <a:ext cx="3168453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Zoom Strengths</a:t>
            </a:r>
            <a:endParaRPr dirty="0"/>
          </a:p>
        </p:txBody>
      </p:sp>
      <p:sp>
        <p:nvSpPr>
          <p:cNvPr id="864" name="Google Shape;864;p37"/>
          <p:cNvSpPr txBox="1">
            <a:spLocks noGrp="1"/>
          </p:cNvSpPr>
          <p:nvPr>
            <p:ph type="body" idx="1"/>
          </p:nvPr>
        </p:nvSpPr>
        <p:spPr>
          <a:xfrm>
            <a:off x="6824630" y="3582376"/>
            <a:ext cx="4090047" cy="188302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 algn="l">
              <a:buSzPts val="1100"/>
            </a:pPr>
            <a:r>
              <a:rPr lang="en-US" dirty="0"/>
              <a:t>High-quality video and audio.</a:t>
            </a:r>
          </a:p>
          <a:p>
            <a:pPr marL="380990" indent="-380990" algn="l">
              <a:buSzPts val="1100"/>
            </a:pPr>
            <a:endParaRPr lang="en-US" dirty="0"/>
          </a:p>
          <a:p>
            <a:pPr marL="380990" indent="-380990" algn="l">
              <a:buSzPts val="1100"/>
            </a:pPr>
            <a:r>
              <a:rPr lang="en-US" dirty="0"/>
              <a:t>User-friendly interface.</a:t>
            </a:r>
          </a:p>
          <a:p>
            <a:pPr marL="380990" indent="-380990" algn="l">
              <a:buSzPts val="1100"/>
            </a:pPr>
            <a:endParaRPr lang="en-US" dirty="0"/>
          </a:p>
          <a:p>
            <a:pPr marL="380990" indent="-380990" algn="l">
              <a:buSzPts val="1100"/>
            </a:pPr>
            <a:r>
              <a:rPr lang="en-US" dirty="0"/>
              <a:t>Strong for webinars and large meetings.</a:t>
            </a:r>
            <a:endParaRPr dirty="0"/>
          </a:p>
        </p:txBody>
      </p:sp>
      <p:sp>
        <p:nvSpPr>
          <p:cNvPr id="865" name="Google Shape;865;p37"/>
          <p:cNvSpPr txBox="1">
            <a:spLocks noGrp="1"/>
          </p:cNvSpPr>
          <p:nvPr>
            <p:ph type="body" idx="2"/>
          </p:nvPr>
        </p:nvSpPr>
        <p:spPr>
          <a:xfrm>
            <a:off x="1507424" y="3510268"/>
            <a:ext cx="3583547" cy="187342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 algn="l">
              <a:buSzPts val="1100"/>
            </a:pPr>
            <a:r>
              <a:rPr lang="en-US" dirty="0"/>
              <a:t>Security issues in the past.</a:t>
            </a:r>
          </a:p>
          <a:p>
            <a:pPr marL="0" indent="0" algn="l">
              <a:buSzPts val="1100"/>
              <a:buNone/>
            </a:pPr>
            <a:endParaRPr lang="en-US" dirty="0"/>
          </a:p>
          <a:p>
            <a:pPr marL="380990" indent="-380990" algn="l">
              <a:buSzPts val="1100"/>
            </a:pPr>
            <a:r>
              <a:rPr lang="en-US" dirty="0"/>
              <a:t>Lacks deeper productivity integration.</a:t>
            </a:r>
            <a:endParaRPr dirty="0"/>
          </a:p>
        </p:txBody>
      </p:sp>
      <p:sp>
        <p:nvSpPr>
          <p:cNvPr id="866" name="Google Shape;866;p37"/>
          <p:cNvSpPr txBox="1">
            <a:spLocks noGrp="1"/>
          </p:cNvSpPr>
          <p:nvPr>
            <p:ph type="title" idx="3"/>
          </p:nvPr>
        </p:nvSpPr>
        <p:spPr>
          <a:xfrm>
            <a:off x="1783824" y="2715179"/>
            <a:ext cx="3583547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Zoom Weaknesses</a:t>
            </a:r>
            <a:endParaRPr dirty="0"/>
          </a:p>
        </p:txBody>
      </p:sp>
      <p:sp>
        <p:nvSpPr>
          <p:cNvPr id="867" name="Google Shape;867;p37"/>
          <p:cNvSpPr txBox="1">
            <a:spLocks noGrp="1"/>
          </p:cNvSpPr>
          <p:nvPr>
            <p:ph type="title" idx="4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STRENGTHS &amp; WEAKNESSES</a:t>
            </a:r>
            <a:endParaRPr dirty="0"/>
          </a:p>
        </p:txBody>
      </p:sp>
      <p:grpSp>
        <p:nvGrpSpPr>
          <p:cNvPr id="868" name="Google Shape;868;p37"/>
          <p:cNvGrpSpPr/>
          <p:nvPr/>
        </p:nvGrpSpPr>
        <p:grpSpPr>
          <a:xfrm>
            <a:off x="7999695" y="1903669"/>
            <a:ext cx="626516" cy="626516"/>
            <a:chOff x="1487200" y="4993750"/>
            <a:chExt cx="483125" cy="483125"/>
          </a:xfrm>
        </p:grpSpPr>
        <p:sp>
          <p:nvSpPr>
            <p:cNvPr id="869" name="Google Shape;869;p3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35C2D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35C2DF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37"/>
          <p:cNvGrpSpPr/>
          <p:nvPr/>
        </p:nvGrpSpPr>
        <p:grpSpPr>
          <a:xfrm>
            <a:off x="3114813" y="1903685"/>
            <a:ext cx="626516" cy="626516"/>
            <a:chOff x="2081650" y="4993750"/>
            <a:chExt cx="483125" cy="483125"/>
          </a:xfrm>
        </p:grpSpPr>
        <p:sp>
          <p:nvSpPr>
            <p:cNvPr id="872" name="Google Shape;872;p3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4" name="Google Shape;874;p37"/>
          <p:cNvGrpSpPr/>
          <p:nvPr/>
        </p:nvGrpSpPr>
        <p:grpSpPr>
          <a:xfrm>
            <a:off x="6032400" y="1656300"/>
            <a:ext cx="127200" cy="4155000"/>
            <a:chOff x="4524300" y="1013625"/>
            <a:chExt cx="95400" cy="3116250"/>
          </a:xfrm>
        </p:grpSpPr>
        <p:sp>
          <p:nvSpPr>
            <p:cNvPr id="875" name="Google Shape;875;p37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7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37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7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9"/>
          <p:cNvSpPr txBox="1">
            <a:spLocks noGrp="1"/>
          </p:cNvSpPr>
          <p:nvPr>
            <p:ph type="subTitle" idx="1"/>
          </p:nvPr>
        </p:nvSpPr>
        <p:spPr>
          <a:xfrm>
            <a:off x="691201" y="2937600"/>
            <a:ext cx="3541615" cy="88475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Can be overwhelming for new users.</a:t>
            </a:r>
            <a:endParaRPr dirty="0"/>
          </a:p>
        </p:txBody>
      </p:sp>
      <p:sp>
        <p:nvSpPr>
          <p:cNvPr id="1236" name="Google Shape;1236;p49"/>
          <p:cNvSpPr txBox="1">
            <a:spLocks noGrp="1"/>
          </p:cNvSpPr>
          <p:nvPr>
            <p:ph type="subTitle" idx="7"/>
          </p:nvPr>
        </p:nvSpPr>
        <p:spPr>
          <a:xfrm>
            <a:off x="7706130" y="2323077"/>
            <a:ext cx="3643005" cy="162705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Comprehensive collaboration tool with video, chat, and file sharing.</a:t>
            </a:r>
            <a:endParaRPr dirty="0"/>
          </a:p>
        </p:txBody>
      </p:sp>
      <p:sp>
        <p:nvSpPr>
          <p:cNvPr id="1238" name="Google Shape;1238;p49"/>
          <p:cNvSpPr txBox="1">
            <a:spLocks noGrp="1"/>
          </p:cNvSpPr>
          <p:nvPr>
            <p:ph type="subTitle" idx="3"/>
          </p:nvPr>
        </p:nvSpPr>
        <p:spPr>
          <a:xfrm>
            <a:off x="691200" y="4436881"/>
            <a:ext cx="3768792" cy="129286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Requires Microsoft Office subscription for full functionality.</a:t>
            </a:r>
            <a:endParaRPr dirty="0"/>
          </a:p>
        </p:txBody>
      </p:sp>
      <p:sp>
        <p:nvSpPr>
          <p:cNvPr id="1240" name="Google Shape;1240;p49"/>
          <p:cNvSpPr txBox="1">
            <a:spLocks noGrp="1"/>
          </p:cNvSpPr>
          <p:nvPr>
            <p:ph type="subTitle" idx="5"/>
          </p:nvPr>
        </p:nvSpPr>
        <p:spPr>
          <a:xfrm>
            <a:off x="7706130" y="4323101"/>
            <a:ext cx="3500116" cy="127214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/>
              <a:t>Excellent for enterprise use due to integration with Office 365.</a:t>
            </a:r>
            <a:endParaRPr dirty="0"/>
          </a:p>
        </p:txBody>
      </p:sp>
      <p:sp>
        <p:nvSpPr>
          <p:cNvPr id="1243" name="Google Shape;1243;p49"/>
          <p:cNvSpPr txBox="1">
            <a:spLocks noGrp="1"/>
          </p:cNvSpPr>
          <p:nvPr>
            <p:ph type="title"/>
          </p:nvPr>
        </p:nvSpPr>
        <p:spPr>
          <a:xfrm>
            <a:off x="824473" y="641696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STRENGTHS &amp; WEAKNESSES</a:t>
            </a:r>
          </a:p>
        </p:txBody>
      </p:sp>
      <p:sp>
        <p:nvSpPr>
          <p:cNvPr id="1244" name="Google Shape;1244;p49"/>
          <p:cNvSpPr/>
          <p:nvPr/>
        </p:nvSpPr>
        <p:spPr>
          <a:xfrm>
            <a:off x="4892209" y="3011641"/>
            <a:ext cx="542495" cy="539671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45" name="Google Shape;1245;p49"/>
          <p:cNvSpPr/>
          <p:nvPr/>
        </p:nvSpPr>
        <p:spPr>
          <a:xfrm>
            <a:off x="4896444" y="4690065"/>
            <a:ext cx="538259" cy="538212"/>
          </a:xfrm>
          <a:custGeom>
            <a:avLst/>
            <a:gdLst/>
            <a:ahLst/>
            <a:cxnLst/>
            <a:rect l="l" t="t" r="r" b="b"/>
            <a:pathLst>
              <a:path w="11816" h="11815" extrusionOk="0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46" name="Google Shape;1246;p49"/>
          <p:cNvSpPr/>
          <p:nvPr/>
        </p:nvSpPr>
        <p:spPr>
          <a:xfrm>
            <a:off x="6753491" y="4679297"/>
            <a:ext cx="546868" cy="538212"/>
          </a:xfrm>
          <a:custGeom>
            <a:avLst/>
            <a:gdLst/>
            <a:ahLst/>
            <a:cxnLst/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247" name="Google Shape;1247;p49"/>
          <p:cNvGrpSpPr/>
          <p:nvPr/>
        </p:nvGrpSpPr>
        <p:grpSpPr>
          <a:xfrm>
            <a:off x="6753491" y="3021332"/>
            <a:ext cx="530012" cy="529979"/>
            <a:chOff x="-1700225" y="2768875"/>
            <a:chExt cx="291450" cy="292225"/>
          </a:xfrm>
        </p:grpSpPr>
        <p:sp>
          <p:nvSpPr>
            <p:cNvPr id="1248" name="Google Shape;1248;p49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49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9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49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49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9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863;p37">
            <a:extLst>
              <a:ext uri="{FF2B5EF4-FFF2-40B4-BE49-F238E27FC236}">
                <a16:creationId xmlns:a16="http://schemas.microsoft.com/office/drawing/2014/main" id="{DBB7B3B0-A8B7-43CC-A0C9-64307D51FA6A}"/>
              </a:ext>
            </a:extLst>
          </p:cNvPr>
          <p:cNvSpPr txBox="1">
            <a:spLocks/>
          </p:cNvSpPr>
          <p:nvPr/>
        </p:nvSpPr>
        <p:spPr>
          <a:xfrm>
            <a:off x="7634685" y="1062812"/>
            <a:ext cx="3643005" cy="127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1219170">
              <a:buClr>
                <a:srgbClr val="CEF3F5"/>
              </a:buClr>
            </a:pPr>
            <a:r>
              <a:rPr lang="en-US" kern="0" dirty="0">
                <a:solidFill>
                  <a:srgbClr val="CEF3F5"/>
                </a:solidFill>
              </a:rPr>
              <a:t>Microsoft Teams Strengths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31153-5B5F-4BF8-BC2D-D19236E4A46D}"/>
              </a:ext>
            </a:extLst>
          </p:cNvPr>
          <p:cNvSpPr txBox="1"/>
          <p:nvPr/>
        </p:nvSpPr>
        <p:spPr>
          <a:xfrm>
            <a:off x="691200" y="1539866"/>
            <a:ext cx="37687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CEF3F5"/>
              </a:buClr>
              <a:buSzPts val="2800"/>
              <a:defRPr/>
            </a:pPr>
            <a:r>
              <a:rPr lang="en-US" sz="2800" kern="0" dirty="0">
                <a:solidFill>
                  <a:srgbClr val="972CB4"/>
                </a:solidFill>
                <a:latin typeface="Oswald"/>
                <a:cs typeface="Arial"/>
                <a:sym typeface="Oswald"/>
              </a:rPr>
              <a:t>Microsoft Teams Weaknesses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50"/>
          <p:cNvSpPr txBox="1">
            <a:spLocks noGrp="1"/>
          </p:cNvSpPr>
          <p:nvPr>
            <p:ph type="title"/>
          </p:nvPr>
        </p:nvSpPr>
        <p:spPr>
          <a:xfrm>
            <a:off x="960000" y="905302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USE CASE SCENARIOS</a:t>
            </a:r>
          </a:p>
        </p:txBody>
      </p:sp>
      <p:cxnSp>
        <p:nvCxnSpPr>
          <p:cNvPr id="1259" name="Google Shape;1259;p50"/>
          <p:cNvCxnSpPr/>
          <p:nvPr/>
        </p:nvCxnSpPr>
        <p:spPr>
          <a:xfrm rot="10800000">
            <a:off x="1028600" y="3728900"/>
            <a:ext cx="10134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0" name="Google Shape;1260;p50"/>
          <p:cNvSpPr txBox="1"/>
          <p:nvPr/>
        </p:nvSpPr>
        <p:spPr>
          <a:xfrm>
            <a:off x="1059401" y="4172002"/>
            <a:ext cx="2186700" cy="196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C8AEF8"/>
                </a:solidFill>
                <a:latin typeface="Oswald"/>
                <a:ea typeface="Oswald"/>
                <a:cs typeface="Oswald"/>
                <a:sym typeface="Oswald"/>
              </a:rPr>
              <a:t>Best for companies needing standalone video conferencing.</a:t>
            </a:r>
            <a:endParaRPr sz="2400" kern="0" dirty="0">
              <a:solidFill>
                <a:srgbClr val="C8AEF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2" name="Google Shape;1262;p50"/>
          <p:cNvSpPr txBox="1"/>
          <p:nvPr/>
        </p:nvSpPr>
        <p:spPr>
          <a:xfrm>
            <a:off x="3029100" y="4224899"/>
            <a:ext cx="2460400" cy="1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878FFF"/>
                </a:solidFill>
                <a:latin typeface="Oswald"/>
                <a:ea typeface="Oswald"/>
                <a:cs typeface="Oswald"/>
                <a:sym typeface="Oswald"/>
              </a:rPr>
              <a:t>Ideal for webinars, remote education, and small businesses.</a:t>
            </a:r>
            <a:endParaRPr sz="2400" kern="0" dirty="0">
              <a:solidFill>
                <a:srgbClr val="878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4" name="Google Shape;1264;p50"/>
          <p:cNvSpPr txBox="1"/>
          <p:nvPr/>
        </p:nvSpPr>
        <p:spPr>
          <a:xfrm>
            <a:off x="4100501" y="2399500"/>
            <a:ext cx="4275500" cy="11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9154F8"/>
                </a:solidFill>
                <a:latin typeface="Oswald"/>
                <a:ea typeface="Oswald"/>
                <a:cs typeface="Oswald"/>
                <a:sym typeface="Oswald"/>
              </a:rPr>
              <a:t>ZOOM - MICROSOFT TEAMS</a:t>
            </a:r>
          </a:p>
          <a:p>
            <a:pPr algn="ctr" defTabSz="1219170">
              <a:buClr>
                <a:srgbClr val="000000"/>
              </a:buClr>
            </a:pPr>
            <a:endParaRPr sz="2400" kern="0" dirty="0">
              <a:solidFill>
                <a:srgbClr val="9154F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6" name="Google Shape;1266;p50"/>
          <p:cNvSpPr txBox="1"/>
          <p:nvPr/>
        </p:nvSpPr>
        <p:spPr>
          <a:xfrm>
            <a:off x="7041700" y="3827899"/>
            <a:ext cx="2220600" cy="196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35C2DF"/>
                </a:solidFill>
                <a:latin typeface="Oswald"/>
                <a:ea typeface="Oswald"/>
                <a:cs typeface="Oswald"/>
                <a:sym typeface="Oswald"/>
              </a:rPr>
              <a:t>Best for large organizations that already use Office 365.</a:t>
            </a:r>
            <a:endParaRPr sz="2400" kern="0" dirty="0">
              <a:solidFill>
                <a:srgbClr val="35C2D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8" name="Google Shape;1268;p50"/>
          <p:cNvSpPr txBox="1"/>
          <p:nvPr/>
        </p:nvSpPr>
        <p:spPr>
          <a:xfrm>
            <a:off x="9162901" y="4032600"/>
            <a:ext cx="2069100" cy="250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CA7BEB"/>
                </a:solidFill>
                <a:latin typeface="Oswald"/>
                <a:ea typeface="Oswald"/>
                <a:cs typeface="Oswald"/>
                <a:sym typeface="Oswald"/>
              </a:rPr>
              <a:t>Ideal for enterprises that need robust collaboration across departments.</a:t>
            </a:r>
            <a:endParaRPr sz="2400" kern="0" dirty="0">
              <a:solidFill>
                <a:srgbClr val="CA7BE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0" name="Google Shape;1270;p50"/>
          <p:cNvSpPr/>
          <p:nvPr/>
        </p:nvSpPr>
        <p:spPr>
          <a:xfrm>
            <a:off x="1946200" y="3570100"/>
            <a:ext cx="317600" cy="31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1" name="Google Shape;1271;p50"/>
          <p:cNvSpPr/>
          <p:nvPr/>
        </p:nvSpPr>
        <p:spPr>
          <a:xfrm>
            <a:off x="3941700" y="3570100"/>
            <a:ext cx="317600" cy="31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2" name="Google Shape;1272;p50"/>
          <p:cNvSpPr/>
          <p:nvPr/>
        </p:nvSpPr>
        <p:spPr>
          <a:xfrm>
            <a:off x="5937200" y="3570100"/>
            <a:ext cx="317600" cy="31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3" name="Google Shape;1273;p50"/>
          <p:cNvSpPr/>
          <p:nvPr/>
        </p:nvSpPr>
        <p:spPr>
          <a:xfrm>
            <a:off x="7932700" y="3570100"/>
            <a:ext cx="317600" cy="31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4" name="Google Shape;1274;p50"/>
          <p:cNvSpPr/>
          <p:nvPr/>
        </p:nvSpPr>
        <p:spPr>
          <a:xfrm>
            <a:off x="9928200" y="3570100"/>
            <a:ext cx="317600" cy="317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2"/>
          <p:cNvSpPr txBox="1">
            <a:spLocks noGrp="1"/>
          </p:cNvSpPr>
          <p:nvPr>
            <p:ph type="title"/>
          </p:nvPr>
        </p:nvSpPr>
        <p:spPr>
          <a:xfrm>
            <a:off x="1163733" y="2243000"/>
            <a:ext cx="3489600" cy="133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963" name="Google Shape;963;p42"/>
          <p:cNvSpPr txBox="1">
            <a:spLocks noGrp="1"/>
          </p:cNvSpPr>
          <p:nvPr>
            <p:ph type="body" idx="2"/>
          </p:nvPr>
        </p:nvSpPr>
        <p:spPr>
          <a:xfrm>
            <a:off x="5210500" y="1360200"/>
            <a:ext cx="5896800" cy="413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Which to Choose?</a:t>
            </a:r>
            <a:endParaRPr lang="en-US" dirty="0"/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b="1" dirty="0"/>
              <a:t>Zoom</a:t>
            </a:r>
            <a:r>
              <a:rPr lang="en-US" dirty="0"/>
              <a:t>: Excellent for simple, scalable video conferencing needs.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b="1" dirty="0"/>
              <a:t>Microsoft Teams</a:t>
            </a:r>
            <a:r>
              <a:rPr lang="en-US" dirty="0"/>
              <a:t>: Superior for integrated communication and collaboration within Office 365 environments.</a:t>
            </a:r>
          </a:p>
          <a:p>
            <a:pPr marL="609585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Final Thought</a:t>
            </a:r>
            <a:r>
              <a:rPr lang="en-US" dirty="0"/>
              <a:t>: The right choice depends on your organization’s size, existing software ecosystem, and specific video conferencing requirements.</a:t>
            </a:r>
          </a:p>
          <a:p>
            <a:pPr marL="0" indent="0">
              <a:spcAft>
                <a:spcPts val="2133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2"/>
          <p:cNvSpPr txBox="1">
            <a:spLocks noGrp="1"/>
          </p:cNvSpPr>
          <p:nvPr>
            <p:ph type="title"/>
          </p:nvPr>
        </p:nvSpPr>
        <p:spPr>
          <a:xfrm>
            <a:off x="6547867" y="705399"/>
            <a:ext cx="2540400" cy="1294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REFERENCES</a:t>
            </a:r>
            <a:endParaRPr dirty="0"/>
          </a:p>
        </p:txBody>
      </p:sp>
      <p:sp>
        <p:nvSpPr>
          <p:cNvPr id="741" name="Google Shape;741;p32"/>
          <p:cNvSpPr txBox="1">
            <a:spLocks noGrp="1"/>
          </p:cNvSpPr>
          <p:nvPr>
            <p:ph type="body" idx="1"/>
          </p:nvPr>
        </p:nvSpPr>
        <p:spPr>
          <a:xfrm>
            <a:off x="5337709" y="1982747"/>
            <a:ext cx="6038292" cy="361122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>
              <a:buSzPts val="1100"/>
            </a:pPr>
            <a:r>
              <a:rPr lang="en-US" dirty="0"/>
              <a:t>Zoom Video Communications, Inc.: Corporate website and annual reports.</a:t>
            </a:r>
          </a:p>
          <a:p>
            <a:pPr marL="380990" indent="-380990">
              <a:buSzPts val="1100"/>
            </a:pPr>
            <a:r>
              <a:rPr lang="en-US" dirty="0"/>
              <a:t>Microsoft Teams Documentation: Microsoft website and user reviews.</a:t>
            </a:r>
          </a:p>
          <a:p>
            <a:pPr marL="380990" indent="-380990">
              <a:buSzPts val="1100"/>
            </a:pPr>
            <a:r>
              <a:rPr lang="en-US" dirty="0"/>
              <a:t>Industry research on video conferencing market trends.</a:t>
            </a:r>
          </a:p>
          <a:p>
            <a:pPr marL="380990" indent="-380990">
              <a:buSzPts val="1100"/>
            </a:pPr>
            <a:r>
              <a:rPr lang="en-US" dirty="0">
                <a:hlinkClick r:id="rId3"/>
              </a:rPr>
              <a:t>https://www.notta.ai/en/blog</a:t>
            </a:r>
            <a:endParaRPr lang="en-US" dirty="0"/>
          </a:p>
          <a:p>
            <a:pPr marL="380990" indent="-380990">
              <a:buSzPts val="1100"/>
            </a:pPr>
            <a:r>
              <a:rPr lang="en-US" dirty="0">
                <a:hlinkClick r:id="rId4"/>
              </a:rPr>
              <a:t>https://zapier.com/blog</a:t>
            </a:r>
            <a:endParaRPr lang="en-US" dirty="0"/>
          </a:p>
          <a:p>
            <a:pPr marL="380990" indent="-380990">
              <a:buSzPts val="1100"/>
            </a:pPr>
            <a:r>
              <a:rPr lang="en-US" dirty="0">
                <a:hlinkClick r:id="rId5"/>
              </a:rPr>
              <a:t>https://jatheon.com/blog</a:t>
            </a:r>
            <a:endParaRPr lang="en-US" dirty="0"/>
          </a:p>
          <a:p>
            <a:pPr marL="380990" indent="-380990">
              <a:buSzPts val="1100"/>
            </a:pPr>
            <a:r>
              <a:rPr lang="en-US" dirty="0">
                <a:hlinkClick r:id="rId6"/>
              </a:rPr>
              <a:t>https://www.timedoctor.com/blog</a:t>
            </a:r>
            <a:endParaRPr lang="en-US" dirty="0"/>
          </a:p>
          <a:p>
            <a:pPr marL="380990" indent="-380990">
              <a:buSzPts val="1100"/>
            </a:pPr>
            <a:r>
              <a:rPr lang="en-US" u="sng" dirty="0">
                <a:hlinkClick r:id="rId7"/>
              </a:rPr>
              <a:t>https://www.distilnfo.com/</a:t>
            </a:r>
            <a:endParaRPr lang="en-US" u="sng" dirty="0"/>
          </a:p>
          <a:p>
            <a:pPr marL="380990" indent="-380990">
              <a:buSzPts val="1100"/>
            </a:pPr>
            <a:r>
              <a:rPr lang="en-US" u="sng" dirty="0"/>
              <a:t>https://www.geeksforgeeks.org/</a:t>
            </a:r>
          </a:p>
          <a:p>
            <a:pPr marL="380990" indent="-380990">
              <a:buSzPts val="1100"/>
            </a:pPr>
            <a:endParaRPr lang="en-US" dirty="0"/>
          </a:p>
        </p:txBody>
      </p:sp>
      <p:grpSp>
        <p:nvGrpSpPr>
          <p:cNvPr id="747" name="Google Shape;747;p32"/>
          <p:cNvGrpSpPr/>
          <p:nvPr/>
        </p:nvGrpSpPr>
        <p:grpSpPr>
          <a:xfrm flipH="1">
            <a:off x="10828668" y="6092062"/>
            <a:ext cx="1363345" cy="763663"/>
            <a:chOff x="-77" y="3784091"/>
            <a:chExt cx="2423582" cy="1357541"/>
          </a:xfrm>
        </p:grpSpPr>
        <p:sp>
          <p:nvSpPr>
            <p:cNvPr id="748" name="Google Shape;748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32"/>
          <p:cNvGrpSpPr/>
          <p:nvPr/>
        </p:nvGrpSpPr>
        <p:grpSpPr>
          <a:xfrm rot="10800000" flipH="1">
            <a:off x="1" y="-5"/>
            <a:ext cx="1363345" cy="763663"/>
            <a:chOff x="-77" y="3784091"/>
            <a:chExt cx="2423582" cy="1357541"/>
          </a:xfrm>
        </p:grpSpPr>
        <p:sp>
          <p:nvSpPr>
            <p:cNvPr id="754" name="Google Shape;754;p32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DB98315-F51E-4F6A-8F30-E452F55D2C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92" y="2223382"/>
            <a:ext cx="4368856" cy="24112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63"/>
          <p:cNvSpPr txBox="1">
            <a:spLocks noGrp="1"/>
          </p:cNvSpPr>
          <p:nvPr>
            <p:ph type="ctrTitle"/>
          </p:nvPr>
        </p:nvSpPr>
        <p:spPr>
          <a:xfrm>
            <a:off x="2517000" y="815633"/>
            <a:ext cx="7158000" cy="135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</a:t>
            </a:r>
            <a:r>
              <a:rPr lang="en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en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en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</a:t>
            </a:r>
            <a:r>
              <a:rPr lang="en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</a:t>
            </a:r>
            <a:r>
              <a:rPr lang="en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01" name="Google Shape;1601;p63"/>
          <p:cNvSpPr txBox="1">
            <a:spLocks noGrp="1"/>
          </p:cNvSpPr>
          <p:nvPr>
            <p:ph type="subTitle" idx="1"/>
          </p:nvPr>
        </p:nvSpPr>
        <p:spPr>
          <a:xfrm>
            <a:off x="4563420" y="2472132"/>
            <a:ext cx="4073200" cy="191373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SzPts val="1100"/>
            </a:pPr>
            <a:r>
              <a:rPr lang="en" sz="3200" dirty="0">
                <a:latin typeface="Roboto" panose="02000000000000000000" pitchFamily="2" charset="0"/>
                <a:ea typeface="Roboto" panose="02000000000000000000" pitchFamily="2" charset="0"/>
              </a:rPr>
              <a:t>Do you have any questions?</a:t>
            </a:r>
            <a:endParaRPr sz="3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14" name="Google Shape;1614;p63"/>
          <p:cNvSpPr/>
          <p:nvPr/>
        </p:nvSpPr>
        <p:spPr>
          <a:xfrm>
            <a:off x="15820900" y="1371134"/>
            <a:ext cx="53400" cy="16700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D89960-08EB-4A6E-8586-8CC02D89D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0" y="2724538"/>
            <a:ext cx="3340359" cy="1791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C8458D-661C-41A6-81BD-0E1E51A15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335" y="2621903"/>
            <a:ext cx="1828799" cy="27250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AB81DF-C191-4DF8-9E07-915213A9A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93" y="1666335"/>
            <a:ext cx="1414395" cy="1097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870</Words>
  <Application>Microsoft Office PowerPoint</Application>
  <PresentationFormat>Widescreen</PresentationFormat>
  <Paragraphs>157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Livvic</vt:lpstr>
      <vt:lpstr>Oswald</vt:lpstr>
      <vt:lpstr>Raleway</vt:lpstr>
      <vt:lpstr>Roboto</vt:lpstr>
      <vt:lpstr>Roboto Condensed Light</vt:lpstr>
      <vt:lpstr>Software Development Bussines Plan by Slidesgo</vt:lpstr>
      <vt:lpstr>VIDEO CONFERENCING TOOLS - ZOOM VS. MICROSOFT TEAMS</vt:lpstr>
      <vt:lpstr>TABLE OF CONTENTS</vt:lpstr>
      <vt:lpstr>INTRODUCTION</vt:lpstr>
      <vt:lpstr>OVERVIEW OF THE COMPANIES</vt:lpstr>
      <vt:lpstr>CORE FEATURES COMPARISON</vt:lpstr>
      <vt:lpstr>USER EXPERIENCE</vt:lpstr>
      <vt:lpstr>SECURITY &amp; PRIVACY</vt:lpstr>
      <vt:lpstr>MARKET ADOPTION &amp; GROWTH</vt:lpstr>
      <vt:lpstr>PRICING MODELS</vt:lpstr>
      <vt:lpstr>Zoom Strengths</vt:lpstr>
      <vt:lpstr>STRENGTHS &amp; WEAKNESSES</vt:lpstr>
      <vt:lpstr>USE CASE SCENARIOS</vt:lpstr>
      <vt:lpstr>CONCLUSION</vt:lpstr>
      <vt:lpstr>REFERENCES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CONFERENCING TOOLS - ZOOM VS. MICROSOFT TEAMS</dc:title>
  <dc:creator>Afiya Humaira</dc:creator>
  <cp:lastModifiedBy>Afiya Humaira</cp:lastModifiedBy>
  <cp:revision>6</cp:revision>
  <dcterms:created xsi:type="dcterms:W3CDTF">2024-10-15T17:51:52Z</dcterms:created>
  <dcterms:modified xsi:type="dcterms:W3CDTF">2024-10-19T04:04:31Z</dcterms:modified>
</cp:coreProperties>
</file>