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JetBrains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JetBrainsMono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JetBrainsMono-italic.fntdata"/><Relationship Id="rId12" Type="http://schemas.openxmlformats.org/officeDocument/2006/relationships/slide" Target="slides/slide7.xml"/><Relationship Id="rId34" Type="http://schemas.openxmlformats.org/officeDocument/2006/relationships/font" Target="fonts/JetBrains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JetBrainsMono-boldItalic.fntdata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0F172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258750" y="1683100"/>
            <a:ext cx="1167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Ethics in Data Privacy Abuse by Tech Giants</a:t>
            </a:r>
            <a:endParaRPr sz="200"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200" y="219100"/>
            <a:ext cx="33556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594450" y="3710200"/>
            <a:ext cx="5288400" cy="20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Group Members: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19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-US" sz="1600">
                <a:solidFill>
                  <a:schemeClr val="lt1"/>
                </a:solidFill>
              </a:rPr>
              <a:t>Fazle Rabby (221002378)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-US" sz="1600">
                <a:solidFill>
                  <a:schemeClr val="lt1"/>
                </a:solidFill>
              </a:rPr>
              <a:t>Md Tanvir Molla (221002179)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-US" sz="1600">
                <a:solidFill>
                  <a:schemeClr val="lt1"/>
                </a:solidFill>
              </a:rPr>
              <a:t>Tuhin Mahmud (213002242)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-US" sz="1600">
                <a:solidFill>
                  <a:schemeClr val="lt1"/>
                </a:solidFill>
              </a:rPr>
              <a:t>MD Arman Hossain Shakib Talukder (221902261)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-US" sz="1600">
                <a:solidFill>
                  <a:schemeClr val="lt1"/>
                </a:solidFill>
              </a:rPr>
              <a:t>MD Ahashan Habib Shekh Jibon (222002008)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7142075" y="3857000"/>
            <a:ext cx="4459800" cy="1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S M Kamrul Islam</a:t>
            </a:r>
            <a:endParaRPr b="1" sz="2400">
              <a:solidFill>
                <a:schemeClr val="lt1"/>
              </a:solidFill>
            </a:endParaRPr>
          </a:p>
          <a:p>
            <a:pPr indent="0" lvl="0" marL="228600" rtl="0" algn="ct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Lecturer, Department of CSE</a:t>
            </a:r>
            <a:endParaRPr sz="1800"/>
          </a:p>
          <a:p>
            <a:pPr indent="0" lvl="0" marL="228600" rtl="0" algn="ct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Green University of Bangladesh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7025" y="1995476"/>
            <a:ext cx="4643475" cy="337707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628650" y="2028975"/>
            <a:ext cx="613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2018, it was revealed that political consulting firm Cambridge Analytica had harvested the personal data of millions of Facebook users without their consent.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628650" y="3429000"/>
            <a:ext cx="5988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incident is a prime example of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Privacy Abuse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the tech sector, highlighting the ethical failures in protecting user autonomy.</a:t>
            </a:r>
            <a:endParaRPr/>
          </a:p>
        </p:txBody>
      </p:sp>
      <p:pic>
        <p:nvPicPr>
          <p:cNvPr descr="image.png" id="147" name="Google Shape;14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7501" y="2005001"/>
            <a:ext cx="4643474" cy="33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Case Study</a:t>
            </a:r>
            <a:r>
              <a:rPr b="1" lang="en-US" sz="3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571500" y="62863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4550"/>
            <a:ext cx="3492549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4550"/>
            <a:ext cx="3492549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4550"/>
            <a:ext cx="3492549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794225" y="438842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"Research" App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629299" y="438917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Loophole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8350824" y="4388800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Commercial Sale</a:t>
            </a:r>
            <a:endParaRPr/>
          </a:p>
        </p:txBody>
      </p:sp>
      <p:pic>
        <p:nvPicPr>
          <p:cNvPr descr="image.png" id="164" name="Google Shape;16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5200" y="3201300"/>
            <a:ext cx="571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94725" y="3261226"/>
            <a:ext cx="802688" cy="64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40575" y="3261225"/>
            <a:ext cx="722425" cy="6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Unethical Practice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571500" y="62863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800100" y="571500"/>
            <a:ext cx="49605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Psychographic Profiling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71500" y="571500"/>
            <a:ext cx="57150" cy="11239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6"/>
          <p:cNvPicPr preferRelativeResize="0"/>
          <p:nvPr/>
        </p:nvPicPr>
        <p:blipFill rotWithShape="1">
          <a:blip r:embed="rId4">
            <a:alphaModFix/>
          </a:blip>
          <a:srcRect b="7089" l="0" r="0" t="0"/>
          <a:stretch/>
        </p:blipFill>
        <p:spPr>
          <a:xfrm>
            <a:off x="6096000" y="0"/>
            <a:ext cx="6096000" cy="58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571500" y="1980425"/>
            <a:ext cx="5416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core unethical act was using harvested data to build "Psychographic Profiles" based on the Big Five personality traits: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Char char="●"/>
            </a:pPr>
            <a:r>
              <a:rPr b="1" lang="en-US" sz="1700">
                <a:solidFill>
                  <a:srgbClr val="CBD5E1"/>
                </a:solidFill>
              </a:rPr>
              <a:t>Openness</a:t>
            </a:r>
            <a:endParaRPr b="1" sz="1700">
              <a:solidFill>
                <a:srgbClr val="CBD5E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Char char="●"/>
            </a:pPr>
            <a:r>
              <a:rPr b="1" lang="en-US" sz="1700">
                <a:solidFill>
                  <a:srgbClr val="CBD5E1"/>
                </a:solidFill>
              </a:rPr>
              <a:t>Conscientiousness</a:t>
            </a:r>
            <a:endParaRPr b="1" sz="1700">
              <a:solidFill>
                <a:srgbClr val="CBD5E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Char char="●"/>
            </a:pPr>
            <a:r>
              <a:rPr b="1" lang="en-US" sz="1700">
                <a:solidFill>
                  <a:srgbClr val="CBD5E1"/>
                </a:solidFill>
              </a:rPr>
              <a:t>Extroversion</a:t>
            </a:r>
            <a:endParaRPr b="1" sz="1700">
              <a:solidFill>
                <a:srgbClr val="CBD5E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Char char="●"/>
            </a:pPr>
            <a:r>
              <a:rPr b="1" lang="en-US" sz="1700">
                <a:solidFill>
                  <a:srgbClr val="CBD5E1"/>
                </a:solidFill>
              </a:rPr>
              <a:t>Agreeableness</a:t>
            </a:r>
            <a:endParaRPr b="1" sz="1700">
              <a:solidFill>
                <a:srgbClr val="CBD5E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Char char="●"/>
            </a:pPr>
            <a:r>
              <a:rPr b="1" lang="en-US" sz="1700">
                <a:solidFill>
                  <a:srgbClr val="CBD5E1"/>
                </a:solidFill>
              </a:rPr>
              <a:t>Neuroticism</a:t>
            </a:r>
            <a:endParaRPr b="1" sz="1700">
              <a:solidFill>
                <a:srgbClr val="CBD5E1"/>
              </a:solidFill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571500" y="63178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1163538" y="3252787"/>
            <a:ext cx="194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87M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163538" y="4300537"/>
            <a:ext cx="1943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USERS AFFECTED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4290863" y="3252787"/>
            <a:ext cx="29241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5000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4290863" y="4300537"/>
            <a:ext cx="29241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POINTS PER PERSON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399264" y="3252787"/>
            <a:ext cx="2628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$5B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399264" y="4300537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FTC FINE TO FACEBOOK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Scale of the Abuse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571500" y="62863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/>
        </p:nvSpPr>
        <p:spPr>
          <a:xfrm>
            <a:off x="571500" y="1095523"/>
            <a:ext cx="50482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076325" y="1656550"/>
            <a:ext cx="9753900" cy="25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"Act in such a way that you treat humanity, whether in your own person or in the person of any other, never merely as a means to an end, but always at the same time as an end." 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611150" y="4846275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— Immanuel Kant (Critique of Practical Reason)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00100" y="323998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Academic Theory: Deontology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71500" y="323998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571500" y="62863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6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1237375" y="26193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Utilitarian Cost-Benefit Analysis reveals a massive ethical failure. The net utility is overwhelmingly negative.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Academic Theory: Utilitarianism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571500" y="63178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3823" y="2079277"/>
            <a:ext cx="6724352" cy="269929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3242642" y="3062290"/>
            <a:ext cx="58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Proposed Solutions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71500" y="63178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571500" y="20431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Stricter Compliance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71500" y="25574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Enforce frameworks like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General Data Protection Regulation (GDPR)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globally.</a:t>
            </a:r>
            <a:endParaRPr/>
          </a:p>
        </p:txBody>
      </p:sp>
      <p:pic>
        <p:nvPicPr>
          <p:cNvPr descr="image.png" id="242" name="Google Shape;2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50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909675" y="3557512"/>
            <a:ext cx="4953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Informed Consent</a:t>
            </a:r>
            <a:endParaRPr b="1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1"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Purpose Limitation</a:t>
            </a:r>
            <a:endParaRPr b="1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Inter"/>
              <a:buChar char="●"/>
            </a:pPr>
            <a:r>
              <a:rPr b="1" lang="en-US" sz="1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Right to Erasure</a:t>
            </a:r>
            <a:endParaRPr sz="1800"/>
          </a:p>
          <a:p>
            <a:pPr indent="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71425" y="3557512"/>
            <a:ext cx="13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Regulatory Solution: GDPR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62863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1450975" y="6286325"/>
            <a:ext cx="28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4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800100" y="1731687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Restoring Autonomy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00100" y="2267912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mandating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Informed Consent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(Regulatory), we restore the Kantian ideal of treating users as ends. They regain control over their digital identity.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00100" y="3652475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Minimizing Harm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00100" y="4193637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From a Utilitarian perspective, these solutions reduce the massive social harm of manipulation. While corporate data profits may decrease, the preservation of democratic integrity maximizes overall societal well-being.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00100" y="571500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Justifying the Solution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571500" y="62863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11230800" y="6286325"/>
            <a:ext cx="503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8700" y="1861963"/>
            <a:ext cx="5072824" cy="36708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6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2315527" y="2166937"/>
            <a:ext cx="756094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2495550" y="3509962"/>
            <a:ext cx="720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571500" y="6317825"/>
            <a:ext cx="1373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09-12-2025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11272800" y="6317825"/>
            <a:ext cx="46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1500" y="6286327"/>
            <a:ext cx="11162700" cy="315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